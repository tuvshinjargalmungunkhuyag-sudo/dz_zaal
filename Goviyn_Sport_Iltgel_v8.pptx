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32"/>
    <p:sldId id="283" r:id="rId33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4" r:id="rId34"/>
    <p:sldId id="272" r:id="rId18"/>
    <p:sldId id="273" r:id="rId19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28016"/>
            <a:ext cx="676656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2415" y="15544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A5C"/>
                </a:solidFill>
              </a:rPr>
              <a:t>МОНГОЛ УЛСЫН ШИНЖЛЭХ УХААН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393192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A5C"/>
                </a:solidFill>
              </a:rPr>
              <a:t>ТЕХНОЛОГИЙН ИХ СУРГУУЛЬ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61264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MONGOLIAN UNIVERSITY OF SCIENCE AND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389888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A1A5C"/>
                </a:solidFill>
              </a:rPr>
              <a:t>ҮҮЛЭН ОРЧИНД СУУРИЛСАН СПОРТ ЗААЛНЫ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30552"/>
            <a:ext cx="9418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A1A5C"/>
                </a:solidFill>
              </a:rPr>
              <a:t>ЦАГ ЗАХИАЛГЫН 3 ДАВХАРГАТ СИСТЕМИЙН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43200"/>
            <a:ext cx="9418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A1A5C"/>
                </a:solidFill>
              </a:rPr>
              <a:t>ЗАГВАРЧЛАЛ БА ХЭРЭГЖИЛТ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438144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Илтгэгч: М. Түвшинжаргал (B221940619)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770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Удирдагч: Доктор (Ph.D) Д.Эрдэнэтуяа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64739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Агуулга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932688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932688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10607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1133856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0A1A5C"/>
                </a:solidFill>
              </a:rPr>
              <a:t>Судалгааны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асуудал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ба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lang="mn-MN" sz="1400" b="1" dirty="0">
                <a:solidFill>
                  <a:srgbClr val="0A1A5C"/>
                </a:solidFill>
              </a:rPr>
              <a:t>бодит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байдал</a:t>
            </a:r>
            <a:endParaRPr sz="1400" b="1" i="0" dirty="0">
              <a:solidFill>
                <a:srgbClr val="0A1A5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3680" y="932688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932688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9984" y="10607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1133856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Судалгааны зорилго ба зорилт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883664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1883664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2084832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3 Давхаргат системийн архитектур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883664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0" y="1883664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9984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084832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0A1A5C"/>
                </a:solidFill>
              </a:rPr>
              <a:t>Технологийн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lang="en-US" sz="1400" b="1" dirty="0">
                <a:solidFill>
                  <a:srgbClr val="0A1A5C"/>
                </a:solidFill>
              </a:rPr>
              <a:t>stack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ба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хэрэгслийн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сонголт</a:t>
            </a:r>
            <a:endParaRPr sz="1400" b="1" i="0" dirty="0">
              <a:solidFill>
                <a:srgbClr val="0A1A5C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" y="2834640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2834640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2962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303580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Мобайл аппликейшны UI/UX загвар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834640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0" y="2834640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9984" y="2962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303580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Захиалгын үйл явц ба давхцал шалгах логик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785616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785616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" y="3913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1016" y="398678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Backend архитектур ба REST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785616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0" y="3785616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3913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0336" y="398678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AI туслах: Groq / LLaMA 3.1 нэгтгэл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736592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4360" y="4736592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" y="4864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1016" y="4937760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Хэрэгжилтийн явц ба туршилтын үр дүн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736592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0" y="4736592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29984" y="4864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336" y="4937760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Дүгнэлт ба цаашдын судалгааны чиглэл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Судалгааны асуудал ба актуаль байдал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7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8600" y="777240"/>
            <a:ext cx="2651760" cy="1261872"/>
          </a:xfrm>
          <a:prstGeom prst="roundRect">
            <a:avLst>
              <a:gd name="adj" fmla="val 16667"/>
            </a:avLst>
          </a:prstGeom>
          <a:solidFill>
            <a:srgbClr val="FFEBE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832103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1A5C"/>
                </a:solidFill>
              </a:rPr>
              <a:t>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832103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Дижитал дэд
бүтэц дутмаг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325880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Утасны яриа /
биечилсэн бүртгэл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112264"/>
            <a:ext cx="2651760" cy="1261872"/>
          </a:xfrm>
          <a:prstGeom prst="roundRect">
            <a:avLst>
              <a:gd name="adj" fmla="val 16667"/>
            </a:avLst>
          </a:prstGeom>
          <a:solidFill>
            <a:srgbClr val="FFEBE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2167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1A5C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167128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Бодит цагийн
мэдээлэл байхгүй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660904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Слотын нөхцөлийг
урьдчилан мэдэхгүй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3447288"/>
            <a:ext cx="2651760" cy="1261872"/>
          </a:xfrm>
          <a:prstGeom prst="roundRect">
            <a:avLst>
              <a:gd name="adj" fmla="val 16667"/>
            </a:avLst>
          </a:prstGeom>
          <a:solidFill>
            <a:srgbClr val="FFEBE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3502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1A5C"/>
                </a:solidFill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502152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Захиалгын
давхардал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995928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Гараар хөтлөх
бүртгэл → алдаа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4782312"/>
            <a:ext cx="2651760" cy="1261872"/>
          </a:xfrm>
          <a:prstGeom prst="roundRect">
            <a:avLst>
              <a:gd name="adj" fmla="val 16667"/>
            </a:avLst>
          </a:prstGeom>
          <a:solidFill>
            <a:srgbClr val="FFEBE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483717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1A5C"/>
                </a:solidFill>
              </a:rP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837175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Аналитик
дутагдал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330951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Тайлан, статистик
автоматжаагүй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22402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CB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24963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CB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27523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CB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1800" y="795528"/>
            <a:ext cx="548640" cy="512064"/>
          </a:xfrm>
          <a:prstGeom prst="roundRect">
            <a:avLst>
              <a:gd name="adj" fmla="val 16667"/>
            </a:avLst>
          </a:prstGeom>
          <a:solidFill>
            <a:srgbClr val="F5C518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813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5C"/>
                </a:solidFill>
              </a:rPr>
              <a:t>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105156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A1A5C"/>
                </a:solidFill>
              </a:rPr>
              <a:t>заал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777240"/>
            <a:ext cx="8302752" cy="5623560"/>
          </a:xfrm>
          <a:prstGeom prst="roundRect">
            <a:avLst>
              <a:gd name="adj" fmla="val 16667"/>
            </a:avLst>
          </a:prstGeom>
          <a:solidFill>
            <a:srgbClr val="D6EAFF"/>
          </a:solidFill>
          <a:ln w="228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850392"/>
            <a:ext cx="8302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5C"/>
                </a:solidFill>
              </a:rPr>
              <a:t>☁️ ДЗ-Заал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1197864"/>
            <a:ext cx="8302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5CBB"/>
                </a:solidFill>
              </a:rPr>
              <a:t>Үүлэн орчин дахь цаг захиалгын систем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9040" y="1527048"/>
            <a:ext cx="26212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1618488"/>
            <a:ext cx="262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2029967"/>
            <a:ext cx="262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Мобайл апп
(Android / iOS)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5184" y="1527048"/>
            <a:ext cx="26212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5184" y="1618488"/>
            <a:ext cx="262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⏱️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5184" y="2029967"/>
            <a:ext cx="262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Бодит цагийн
слот хяналт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01328" y="1527048"/>
            <a:ext cx="26212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01328" y="1618488"/>
            <a:ext cx="262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01328" y="2029967"/>
            <a:ext cx="262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Давхардлаас
сэргийлэх логик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49040" y="2916936"/>
            <a:ext cx="26212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3008376"/>
            <a:ext cx="262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40" y="3419856"/>
            <a:ext cx="262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Аналитик
тайлан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25184" y="2916936"/>
            <a:ext cx="26212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5184" y="3008376"/>
            <a:ext cx="262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5184" y="3419856"/>
            <a:ext cx="262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AI туслагч
(Claude / Groq)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01328" y="2916936"/>
            <a:ext cx="262128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1328" y="3008376"/>
            <a:ext cx="262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☁️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1328" y="3419856"/>
            <a:ext cx="262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AWS EC2
Токиогийн бүс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Судалгааны зорилго ба зорилт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" y="777240"/>
            <a:ext cx="11640312" cy="621792"/>
          </a:xfrm>
          <a:prstGeom prst="roundRect">
            <a:avLst>
              <a:gd name="adj" fmla="val 16667"/>
            </a:avLst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841247"/>
            <a:ext cx="11512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ЗОРИЛГО — Даланзадгадын спорт байгууллагад зориулсан үүлэн орчинтой 3 давхаргат цаг захиалгын систем бүтээх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527048"/>
            <a:ext cx="3758184" cy="2368296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524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527048"/>
            <a:ext cx="3758184" cy="475488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72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🗓️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5819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C518"/>
                </a:solidFill>
              </a:rPr>
              <a:t>З-1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46504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Цаг захиалгын
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0574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Бодит цагийн слот шалгалт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31343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Давхардлаас сэргийлэх логик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569464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Хагас/бүтэн талбай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23944" y="1527048"/>
            <a:ext cx="3758184" cy="2368296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524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23944" y="1527048"/>
            <a:ext cx="3758184" cy="475488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23944" y="1572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15819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C518"/>
                </a:solidFill>
              </a:rPr>
              <a:t>З-2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1746504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Мобайл
интерфэйс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20574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Flutter (Android/iOS)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31343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Material Design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2569464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Дулаан цөлийн дизайн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1527048"/>
            <a:ext cx="3758184" cy="2368296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524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73568" y="1527048"/>
            <a:ext cx="3758184" cy="475488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1572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15819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C518"/>
                </a:solidFill>
              </a:rPr>
              <a:t>З-3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1746504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туслах
систем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20574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Claude Haiku 4.5 (үндсэн)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231343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Groq LLaMA 3.1 (нөөц)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2569464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Монгол хэлний дэмжлэг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986783"/>
            <a:ext cx="3758184" cy="2368296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524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4320" y="3986783"/>
            <a:ext cx="3758184" cy="475488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03250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041647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C518"/>
                </a:solidFill>
              </a:rPr>
              <a:t>З-4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206240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 дэд
бүтэц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4517136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AWS EC2 · Docker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773168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GitHub Actions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0292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Автомат деплой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3944" y="3986783"/>
            <a:ext cx="3758184" cy="2368296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524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23944" y="3986783"/>
            <a:ext cx="3758184" cy="475488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23944" y="403250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4041647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C518"/>
                </a:solidFill>
              </a:rPr>
              <a:t>З-5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4206240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Аюулгүй
нэвтрэлт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33672" y="4517136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Email + OTP баталгаажуулалт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3672" y="4773168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Firebase Auth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33672" y="50292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Firestore аюулгүй дүрмүүд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73568" y="3986783"/>
            <a:ext cx="3758184" cy="2368296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524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73568" y="3986783"/>
            <a:ext cx="3758184" cy="475488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403250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6488" y="4041647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C518"/>
                </a:solidFill>
              </a:rPr>
              <a:t>З-6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76488" y="4206240"/>
            <a:ext cx="3191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Туршилт &amp;
баталгаажуулалт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83296" y="4517136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10 функциональ тест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83296" y="4773168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Guerilla useability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83296" y="50292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44"/>
                </a:solidFill>
              </a:rPr>
              <a:t>• Гүйцэтгэлийн хэмжилт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Судалгааны ач холбогдол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" y="777240"/>
            <a:ext cx="3709416" cy="5623560"/>
          </a:xfrm>
          <a:prstGeom prst="roundRect">
            <a:avLst>
              <a:gd name="adj" fmla="val 16667"/>
            </a:avLst>
          </a:prstGeom>
          <a:solidFill>
            <a:srgbClr val="D6EAFF"/>
          </a:solidFill>
          <a:ln w="228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3268" y="914400"/>
            <a:ext cx="731520" cy="731520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3268" y="941832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37360"/>
            <a:ext cx="3709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CBB"/>
                </a:solidFill>
              </a:rPr>
              <a:t>Шинжлэх
ухааны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13432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3 давхаргат архитектурийн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660903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загварыг баримтжуулсан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008376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NoSQL + REST + Flutter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355848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хослолын кейс судалгаа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703320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Ухаалаг AI нэгтгэлийн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050791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практик жишээ болно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0040" y="777240"/>
            <a:ext cx="3709416" cy="5623560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228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18988" y="914400"/>
            <a:ext cx="731520" cy="731520"/>
          </a:xfrm>
          <a:prstGeom prst="roundRect">
            <a:avLst>
              <a:gd name="adj" fmla="val 16667"/>
            </a:avLst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8988" y="941832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040" y="1737360"/>
            <a:ext cx="3709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Практик &amp;
нийгмийн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4632" y="2313432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Даланзадгадын 5+ заал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4632" y="2660903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нэг платформ дээр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4632" y="3008376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Хэрэглэгч цаг хэмнэнэ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4632" y="3355848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Давхардлыг арилгана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4632" y="3703320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Бизнесийн аналитик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4632" y="4050791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автоматаар бий болно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5760" y="777240"/>
            <a:ext cx="3709416" cy="5623560"/>
          </a:xfrm>
          <a:prstGeom prst="roundRect">
            <a:avLst>
              <a:gd name="adj" fmla="val 16667"/>
            </a:avLst>
          </a:prstGeom>
          <a:solidFill>
            <a:srgbClr val="FFF0CC"/>
          </a:solidFill>
          <a:ln w="2286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74708" y="914400"/>
            <a:ext cx="731520" cy="731520"/>
          </a:xfrm>
          <a:prstGeom prst="roundRect">
            <a:avLst>
              <a:gd name="adj" fmla="val 16667"/>
            </a:avLst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4708" y="941832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760" y="1737360"/>
            <a:ext cx="3709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700F"/>
                </a:solidFill>
              </a:rPr>
              <a:t>Технологийн
хувь нэмэр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0352" y="2313432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CI/CD pipeline загвар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0352" y="2660903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Docker + AWS EC2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0352" y="3008376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Email OTP баталгаажуулалт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0352" y="3355848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GitHub Actions автоматжуулалт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0352" y="3703320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Firestore аюулгүй дүрмүүд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0352" y="4050791"/>
            <a:ext cx="347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44"/>
                </a:solidFill>
              </a:rPr>
              <a:t>✓ Цаашид өргөтгөх боломж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3 Давхаргат системийн архитектур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795528"/>
            <a:ext cx="7132320" cy="1417320"/>
          </a:xfrm>
          <a:prstGeom prst="rect">
            <a:avLst/>
          </a:prstGeom>
          <a:solidFill>
            <a:srgbClr val="D6EAFF"/>
          </a:solidFill>
          <a:ln w="1905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321308"/>
            <a:ext cx="329184" cy="365760"/>
          </a:xfrm>
          <a:prstGeom prst="roundRect">
            <a:avLst>
              <a:gd name="adj" fmla="val 16667"/>
            </a:avLst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130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850392"/>
            <a:ext cx="6656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Flutter  (Dart 3.x)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143000"/>
            <a:ext cx="6656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44"/>
                </a:solidFill>
              </a:rPr>
              <a:t>Presentation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1389888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417320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1691640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Android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1389888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1417320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1691640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1648" y="1389888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1417320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1691640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Material
Design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24144" y="1389888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1417320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1691640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Provider
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13048" y="2249424"/>
            <a:ext cx="54864" cy="310895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39896" y="2432303"/>
            <a:ext cx="201168" cy="1280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229514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333344"/>
                </a:solidFill>
              </a:rPr>
              <a:t>HTTPS / REST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96896"/>
            <a:ext cx="7132320" cy="1417320"/>
          </a:xfrm>
          <a:prstGeom prst="rect">
            <a:avLst/>
          </a:prstGeom>
          <a:solidFill>
            <a:srgbClr val="FFF0CC"/>
          </a:solidFill>
          <a:ln w="1905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4320" y="3122675"/>
            <a:ext cx="329184" cy="365760"/>
          </a:xfrm>
          <a:prstGeom prst="roundRect">
            <a:avLst>
              <a:gd name="adj" fmla="val 16667"/>
            </a:avLst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122675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2651760"/>
            <a:ext cx="6656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Node.js 18  /  Express.js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944368"/>
            <a:ext cx="6656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44"/>
                </a:solidFill>
              </a:rPr>
              <a:t>Application Tier  —  AWS EC2 ap-northeast-1 (Токио)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" y="3191256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218688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3493008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REST
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9152" y="3191256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9152" y="3218688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9152" y="3493008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Nodemailer
SMTP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1648" y="3191256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1648" y="3218688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41648" y="3493008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node-cron
Cron job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24144" y="3191256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3218688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4144" y="3493008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Docker
Container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3048" y="4050791"/>
            <a:ext cx="54864" cy="310895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39896" y="4233672"/>
            <a:ext cx="201168" cy="12801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4096511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333344"/>
                </a:solidFill>
              </a:rPr>
              <a:t>Firebase Admin SDK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398264"/>
            <a:ext cx="7132320" cy="1417320"/>
          </a:xfrm>
          <a:prstGeom prst="rect">
            <a:avLst/>
          </a:prstGeom>
          <a:solidFill>
            <a:srgbClr val="D5F5E3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74320" y="4924044"/>
            <a:ext cx="329184" cy="365760"/>
          </a:xfrm>
          <a:prstGeom prst="roundRect">
            <a:avLst>
              <a:gd name="adj" fmla="val 16667"/>
            </a:avLst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924044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" y="4453127"/>
            <a:ext cx="6656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Cloud Firestore  (NoSQL)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" y="4745736"/>
            <a:ext cx="6656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44"/>
                </a:solidFill>
              </a:rPr>
              <a:t>Data Tier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6656" y="4992624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020055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5294375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bookings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59152" y="4992624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59152" y="5020055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59152" y="5294375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users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41648" y="4992624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41648" y="5020055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1648" y="5294375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fixed_
bookings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24144" y="4992624"/>
            <a:ext cx="1609343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24144" y="5020055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✉️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24144" y="5294375"/>
            <a:ext cx="1609343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email_
verif.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07808" y="795528"/>
            <a:ext cx="4251960" cy="1005840"/>
          </a:xfrm>
          <a:prstGeom prst="roundRect">
            <a:avLst>
              <a:gd name="adj" fmla="val 16667"/>
            </a:avLst>
          </a:prstGeom>
          <a:solidFill>
            <a:srgbClr val="EEEEFF"/>
          </a:solidFill>
          <a:ln w="15240">
            <a:solidFill>
              <a:srgbClr val="6C3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07808" y="85039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1A5C"/>
                </a:solidFill>
              </a:rPr>
              <a:t>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7808" y="1197864"/>
            <a:ext cx="4251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357E"/>
                </a:solidFill>
              </a:rPr>
              <a:t>Firebase Auth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07808" y="1435607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44"/>
                </a:solidFill>
              </a:rPr>
              <a:t>Email OTP · ID Token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07808" y="1618488"/>
            <a:ext cx="4251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C357E"/>
                </a:solidFill>
              </a:rPr>
              <a:t>+ Firestore Rules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07808" y="1874519"/>
            <a:ext cx="4251960" cy="111556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07808" y="1929384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1A5C"/>
                </a:solidFill>
              </a:rPr>
              <a:t>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7808" y="2276856"/>
            <a:ext cx="4251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AI Туслах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07808" y="2514600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44"/>
                </a:solidFill>
              </a:rPr>
              <a:t>Claude Haiku 4.5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07808" y="272491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44"/>
                </a:solidFill>
              </a:rPr>
              <a:t>Groq LLaMA 3.1 (нөөц)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607808" y="2670048"/>
            <a:ext cx="4251960" cy="2331720"/>
          </a:xfrm>
          <a:prstGeom prst="roundRect">
            <a:avLst>
              <a:gd name="adj" fmla="val 16667"/>
            </a:avLst>
          </a:prstGeom>
          <a:solidFill>
            <a:srgbClr val="F3E5FF"/>
          </a:solidFill>
          <a:ln w="19050">
            <a:solidFill>
              <a:srgbClr val="6C3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07808" y="274320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357E"/>
                </a:solidFill>
              </a:rPr>
              <a:t>🔄 CI/CD Pipeline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662672" y="3081528"/>
            <a:ext cx="79187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6C3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62672" y="3118104"/>
            <a:ext cx="7918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⬆️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2672" y="3438144"/>
            <a:ext cx="79187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A1A5C"/>
                </a:solidFill>
              </a:rPr>
              <a:t>git push
main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54542" y="3236976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357E"/>
                </a:solidFill>
              </a:rPr>
              <a:t>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491118" y="3081528"/>
            <a:ext cx="79187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6C3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91118" y="3118104"/>
            <a:ext cx="7918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⚙️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91118" y="3438144"/>
            <a:ext cx="79187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A1A5C"/>
                </a:solidFill>
              </a:rPr>
              <a:t>GitHub
Actions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82988" y="3236976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357E"/>
                </a:solidFill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319564" y="3081528"/>
            <a:ext cx="79187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6C3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19564" y="3118104"/>
            <a:ext cx="7918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19564" y="3438144"/>
            <a:ext cx="79187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A1A5C"/>
                </a:solidFill>
              </a:rPr>
              <a:t>Docker
Build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11435" y="3236976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357E"/>
                </a:solidFill>
              </a:rPr>
              <a:t>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148011" y="3081528"/>
            <a:ext cx="79187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6C3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48011" y="3118104"/>
            <a:ext cx="7918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8011" y="3438144"/>
            <a:ext cx="79187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A1A5C"/>
                </a:solidFill>
              </a:rPr>
              <a:t>AWS
ECR Push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39881" y="3236976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357E"/>
                </a:solidFill>
              </a:rPr>
              <a:t>→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976457" y="3081528"/>
            <a:ext cx="79187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6C3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976457" y="3118104"/>
            <a:ext cx="7918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6457" y="3438144"/>
            <a:ext cx="79187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A1A5C"/>
                </a:solidFill>
              </a:rPr>
              <a:t>EC2
Deploy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07808" y="4041648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C357E"/>
                </a:solidFill>
              </a:rPr>
              <a:t>Push → Build → Registry → Deploy  (3–4 мин)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07808" y="4242816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33344"/>
                </a:solidFill>
              </a:rPr>
              <a:t>AWS ECR  ap-northeast-1 (Токио)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07808" y="4443983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33344"/>
                </a:solidFill>
              </a:rPr>
              <a:t>node:18-alpine  ·  dz-zaal-backend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653528" y="4526279"/>
            <a:ext cx="1003554" cy="8686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016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53528" y="4562855"/>
            <a:ext cx="10035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5C"/>
                </a:solidFill>
              </a:rPr>
              <a:t>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53528" y="4818888"/>
            <a:ext cx="10035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5C"/>
                </a:solidFill>
              </a:rPr>
              <a:t>2.3 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53528" y="5120640"/>
            <a:ext cx="1003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344"/>
                </a:solidFill>
              </a:rPr>
              <a:t>App boot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693658" y="4526279"/>
            <a:ext cx="1003554" cy="8686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016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93658" y="4562855"/>
            <a:ext cx="10035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5C"/>
                </a:solidFill>
              </a:rPr>
              <a:t>🗄️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93658" y="4818888"/>
            <a:ext cx="10035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5C"/>
                </a:solidFill>
              </a:rPr>
              <a:t>0.6 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93658" y="5120640"/>
            <a:ext cx="1003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344"/>
                </a:solidFill>
              </a:rPr>
              <a:t>Firestore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733788" y="4526279"/>
            <a:ext cx="1003554" cy="8686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016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33788" y="4562855"/>
            <a:ext cx="10035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5C"/>
                </a:solidFill>
              </a:rPr>
              <a:t>⚡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33788" y="4818888"/>
            <a:ext cx="10035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5C"/>
                </a:solidFill>
              </a:rPr>
              <a:t>0.8 с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33788" y="5120640"/>
            <a:ext cx="1003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344"/>
                </a:solidFill>
              </a:rPr>
              <a:t>API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773918" y="4526279"/>
            <a:ext cx="1003554" cy="868680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016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773918" y="4562855"/>
            <a:ext cx="10035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5C"/>
                </a:solidFill>
              </a:rPr>
              <a:t>🤖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773918" y="4818888"/>
            <a:ext cx="10035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5C"/>
                </a:solidFill>
              </a:rPr>
              <a:t>1.4 с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73918" y="5120640"/>
            <a:ext cx="1003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344"/>
                </a:solidFill>
              </a:rPr>
              <a:t>Claude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Технологийн стек ба хэрэгслийн сонголт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7315200" cy="1749552"/>
          </a:xfrm>
          <a:prstGeom prst="rect">
            <a:avLst/>
          </a:prstGeom>
          <a:solidFill>
            <a:srgbClr val="D6EAFF"/>
          </a:solidFill>
          <a:ln w="228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005840" cy="174955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31976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PRESENTATION
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90525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960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27101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Flutter 3.x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15184" y="90525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960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27101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Dart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8768" y="90525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960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127101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Material
Design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2352" y="90525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960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27101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Provider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90525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960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✏️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127101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Google
Fonts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36520"/>
            <a:ext cx="7315200" cy="1749552"/>
          </a:xfrm>
          <a:prstGeom prst="rect">
            <a:avLst/>
          </a:prstGeom>
          <a:solidFill>
            <a:srgbClr val="FFF0CC"/>
          </a:solidFill>
          <a:ln w="228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636520"/>
            <a:ext cx="1005840" cy="1749552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191256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APPLICATION
TIER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276453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8194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13029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Node.js 18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15184" y="276453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15184" y="28194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15184" y="313029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Express.js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58768" y="276453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58768" y="28194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313029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Nodemailer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02352" y="276453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02352" y="28194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13029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node-cron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45936" y="276453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28194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313029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Groq 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495800"/>
            <a:ext cx="7315200" cy="1749552"/>
          </a:xfrm>
          <a:prstGeom prst="rect">
            <a:avLst/>
          </a:prstGeom>
          <a:solidFill>
            <a:srgbClr val="D5F5E3"/>
          </a:solidFill>
          <a:ln w="228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495800"/>
            <a:ext cx="1005840" cy="174955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5050536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 &amp;
INFRASTRUCTURE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462381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467868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498957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Firestore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15184" y="462381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15184" y="467868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15184" y="498957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Firebase
Auth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58768" y="462381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58768" y="467868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☁️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58768" y="498957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AWS EC2
Tokio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02352" y="462381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02352" y="467868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2352" y="498957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Docker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45936" y="4623816"/>
            <a:ext cx="1188720" cy="149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45936" y="467868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A5C"/>
                </a:solidFill>
              </a:rPr>
              <a:t>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45936" y="4989576"/>
            <a:ext cx="1188720" cy="109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A1A5C"/>
                </a:solidFill>
              </a:rPr>
              <a:t>GitHub
Actions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0" y="777240"/>
            <a:ext cx="4178808" cy="5623560"/>
          </a:xfrm>
          <a:prstGeom prst="roundRect">
            <a:avLst>
              <a:gd name="adj" fmla="val 16667"/>
            </a:avLst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0" y="905256"/>
            <a:ext cx="4178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18"/>
                </a:solidFill>
              </a:rPr>
              <a:t>Технологийн
сонголтын
шалтгаан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82127" y="1636776"/>
            <a:ext cx="3959352" cy="713232"/>
          </a:xfrm>
          <a:prstGeom prst="roundRect">
            <a:avLst>
              <a:gd name="adj" fmla="val 16667"/>
            </a:avLst>
          </a:prstGeom>
          <a:solidFill>
            <a:srgbClr val="14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82127" y="17465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17099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Flutter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195681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2F4F7"/>
                </a:solidFill>
              </a:rPr>
              <a:t>Нэг кодоор iOS/Android — хөгжүүлэлтийн зардал хоёр дахин хэмнэгдэнэ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82127" y="2414016"/>
            <a:ext cx="3959352" cy="713232"/>
          </a:xfrm>
          <a:prstGeom prst="roundRect">
            <a:avLst>
              <a:gd name="adj" fmla="val 16667"/>
            </a:avLst>
          </a:prstGeom>
          <a:solidFill>
            <a:srgbClr val="14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82127" y="25237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60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Firebase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27340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2F4F7"/>
                </a:solidFill>
              </a:rPr>
              <a:t>Бодит цагийн синк + Auth нэгтгэл — бэкэнд хялбарчлагдана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82127" y="3191256"/>
            <a:ext cx="3959352" cy="713232"/>
          </a:xfrm>
          <a:prstGeom prst="roundRect">
            <a:avLst>
              <a:gd name="adj" fmla="val 16667"/>
            </a:avLst>
          </a:prstGeom>
          <a:solidFill>
            <a:srgbClr val="14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82127" y="3300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66760" y="32644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Node.js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35112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2F4F7"/>
                </a:solidFill>
              </a:rPr>
              <a:t>JS full-stack — ижил хэл, хурдан prototyping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82127" y="3968496"/>
            <a:ext cx="3959352" cy="713232"/>
          </a:xfrm>
          <a:prstGeom prst="roundRect">
            <a:avLst>
              <a:gd name="adj" fmla="val 16667"/>
            </a:avLst>
          </a:prstGeom>
          <a:solidFill>
            <a:srgbClr val="14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82127" y="40782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66760" y="40416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AWS EC2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60" y="428853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2F4F7"/>
                </a:solidFill>
              </a:rPr>
              <a:t>Монголд хамгийн ойр Токио бүс — latency бага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82127" y="4745736"/>
            <a:ext cx="3959352" cy="713232"/>
          </a:xfrm>
          <a:prstGeom prst="roundRect">
            <a:avLst>
              <a:gd name="adj" fmla="val 16667"/>
            </a:avLst>
          </a:prstGeom>
          <a:solidFill>
            <a:srgbClr val="14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82127" y="4855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48188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Docker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66760" y="5065775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2F4F7"/>
                </a:solidFill>
              </a:rPr>
              <a:t>Орчны тохирголт тогтмол — dev/prod ялгаа арилна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82127" y="5522976"/>
            <a:ext cx="3959352" cy="713232"/>
          </a:xfrm>
          <a:prstGeom prst="roundRect">
            <a:avLst>
              <a:gd name="adj" fmla="val 16667"/>
            </a:avLst>
          </a:prstGeom>
          <a:solidFill>
            <a:srgbClr val="14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82127" y="56327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66760" y="5596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Actions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66760" y="584301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2F4F7"/>
                </a:solidFill>
              </a:rPr>
              <a:t>Push-to-deploy — manual орхигдоно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Use Case Диаграмм — Хэрэглэгч ба Админ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841248"/>
            <a:ext cx="9418320" cy="5394960"/>
          </a:xfrm>
          <a:prstGeom prst="rect">
            <a:avLst/>
          </a:prstGeom>
          <a:noFill/>
          <a:ln w="190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8046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Говийн Арена — Спорт заалны цаг захиалгын систем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1280160"/>
            <a:ext cx="438912" cy="438912"/>
          </a:xfrm>
          <a:prstGeom prst="ellipse">
            <a:avLst/>
          </a:prstGeom>
          <a:solidFill>
            <a:srgbClr val="0A1A5C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" y="1719072"/>
            <a:ext cx="36576" cy="5029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856232"/>
            <a:ext cx="548640" cy="2743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2221992"/>
            <a:ext cx="27432" cy="38404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2416" y="2221992"/>
            <a:ext cx="27432" cy="38404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79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A5C"/>
                </a:solidFill>
              </a:rPr>
              <a:t>Хэрэглэгч</a:t>
            </a:r>
          </a:p>
        </p:txBody>
      </p:sp>
      <p:sp>
        <p:nvSpPr>
          <p:cNvPr id="19" name="Oval 18"/>
          <p:cNvSpPr/>
          <p:nvPr/>
        </p:nvSpPr>
        <p:spPr>
          <a:xfrm>
            <a:off x="11027664" y="1280160"/>
            <a:ext cx="438912" cy="438912"/>
          </a:xfrm>
          <a:prstGeom prst="ellipse">
            <a:avLst/>
          </a:prstGeom>
          <a:solidFill>
            <a:srgbClr val="B85C08"/>
          </a:solidFill>
          <a:ln w="1524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28832" y="1719072"/>
            <a:ext cx="36576" cy="502920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0" y="1856232"/>
            <a:ext cx="548640" cy="27432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2221992"/>
            <a:ext cx="27432" cy="38404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20856" y="2221992"/>
            <a:ext cx="27432" cy="38404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4200" y="2679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5C08"/>
                </a:solidFill>
              </a:rPr>
              <a:t>Админ</a:t>
            </a:r>
          </a:p>
        </p:txBody>
      </p:sp>
      <p:sp>
        <p:nvSpPr>
          <p:cNvPr id="25" name="Oval 24"/>
          <p:cNvSpPr/>
          <p:nvPr/>
        </p:nvSpPr>
        <p:spPr>
          <a:xfrm>
            <a:off x="2766060" y="11201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Email-р бүртгэх / нэвтрэх</a:t>
            </a:r>
          </a:p>
        </p:txBody>
      </p:sp>
      <p:sp>
        <p:nvSpPr>
          <p:cNvPr id="26" name="Oval 25"/>
          <p:cNvSpPr/>
          <p:nvPr/>
        </p:nvSpPr>
        <p:spPr>
          <a:xfrm>
            <a:off x="2766060" y="18059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Хуваарь харах</a:t>
            </a:r>
          </a:p>
        </p:txBody>
      </p:sp>
      <p:sp>
        <p:nvSpPr>
          <p:cNvPr id="27" name="Oval 26"/>
          <p:cNvSpPr/>
          <p:nvPr/>
        </p:nvSpPr>
        <p:spPr>
          <a:xfrm>
            <a:off x="2766060" y="24917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Цаг захиалах</a:t>
            </a:r>
          </a:p>
        </p:txBody>
      </p:sp>
      <p:sp>
        <p:nvSpPr>
          <p:cNvPr id="28" name="Oval 27"/>
          <p:cNvSpPr/>
          <p:nvPr/>
        </p:nvSpPr>
        <p:spPr>
          <a:xfrm>
            <a:off x="2766060" y="31775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Захиалга цуцлах</a:t>
            </a:r>
          </a:p>
        </p:txBody>
      </p:sp>
      <p:sp>
        <p:nvSpPr>
          <p:cNvPr id="29" name="Oval 28"/>
          <p:cNvSpPr/>
          <p:nvPr/>
        </p:nvSpPr>
        <p:spPr>
          <a:xfrm>
            <a:off x="2766060" y="38633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AI чат ашиглах</a:t>
            </a:r>
          </a:p>
        </p:txBody>
      </p:sp>
      <p:sp>
        <p:nvSpPr>
          <p:cNvPr id="30" name="Oval 29"/>
          <p:cNvSpPr/>
          <p:nvPr/>
        </p:nvSpPr>
        <p:spPr>
          <a:xfrm>
            <a:off x="2766060" y="45491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Мэдэгдэл авах, захиалгын түүх</a:t>
            </a:r>
          </a:p>
        </p:txBody>
      </p:sp>
      <p:sp>
        <p:nvSpPr>
          <p:cNvPr id="31" name="Oval 30"/>
          <p:cNvSpPr/>
          <p:nvPr/>
        </p:nvSpPr>
        <p:spPr>
          <a:xfrm>
            <a:off x="7155180" y="11201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Бүх захиалга харах</a:t>
            </a:r>
          </a:p>
        </p:txBody>
      </p:sp>
      <p:sp>
        <p:nvSpPr>
          <p:cNvPr id="32" name="Oval 31"/>
          <p:cNvSpPr/>
          <p:nvPr/>
        </p:nvSpPr>
        <p:spPr>
          <a:xfrm>
            <a:off x="7155180" y="18059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Тогтмол захиалга нэмэх</a:t>
            </a:r>
          </a:p>
        </p:txBody>
      </p:sp>
      <p:sp>
        <p:nvSpPr>
          <p:cNvPr id="33" name="Oval 32"/>
          <p:cNvSpPr/>
          <p:nvPr/>
        </p:nvSpPr>
        <p:spPr>
          <a:xfrm>
            <a:off x="7155180" y="24917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Цагийн хуваарь засах</a:t>
            </a:r>
          </a:p>
        </p:txBody>
      </p:sp>
      <p:sp>
        <p:nvSpPr>
          <p:cNvPr id="34" name="Oval 33"/>
          <p:cNvSpPr/>
          <p:nvPr/>
        </p:nvSpPr>
        <p:spPr>
          <a:xfrm>
            <a:off x="7155180" y="31775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3 цуцлалт → 1 сарын блок</a:t>
            </a:r>
          </a:p>
        </p:txBody>
      </p:sp>
      <p:sp>
        <p:nvSpPr>
          <p:cNvPr id="35" name="Oval 34"/>
          <p:cNvSpPr/>
          <p:nvPr/>
        </p:nvSpPr>
        <p:spPr>
          <a:xfrm>
            <a:off x="7155180" y="38633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Хэрэглэгч блоклох</a:t>
            </a:r>
          </a:p>
        </p:txBody>
      </p:sp>
      <p:sp>
        <p:nvSpPr>
          <p:cNvPr id="36" name="Oval 35"/>
          <p:cNvSpPr/>
          <p:nvPr/>
        </p:nvSpPr>
        <p:spPr>
          <a:xfrm>
            <a:off x="7155180" y="45491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Тайлан харах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13624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9848" y="20482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9848" y="27340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9848" y="34198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9848" y="41056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9848" y="47914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04020" y="13624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04020" y="20482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04020" y="27340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04020" y="34198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04020" y="41056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04020" y="47914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28800" y="6035040"/>
            <a:ext cx="1828800" cy="32004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6053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Хэрэглэгчийн Use Case</a:t>
            </a:r>
          </a:p>
        </p:txBody>
      </p:sp>
      <p:sp>
        <p:nvSpPr>
          <p:cNvPr id="51" name="Oval 50"/>
          <p:cNvSpPr/>
          <p:nvPr/>
        </p:nvSpPr>
        <p:spPr>
          <a:xfrm>
            <a:off x="4389120" y="6035040"/>
            <a:ext cx="1828800" cy="32004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6053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5C08"/>
                </a:solidFill>
              </a:rPr>
              <a:t>Админы Use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Сургуулийн асуудлаас шийдэл хүртэлх дараалал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Говийн Арена
асуудал судалсан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Use Case
боловсруулсан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Системийн
архитектур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Flutter апп
hөгжүүлсэн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Firebase + Node.js
бэкэнд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96312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73752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51192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59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28631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63072" y="1737360"/>
            <a:ext cx="36576" cy="640080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0" y="2240280"/>
            <a:ext cx="182880" cy="164592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Docker + AWS EC2
байршуулалт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GitHub Actions
CI/CD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AI чатбот
(Claude + Groq)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Туршилт
10/10 тэнцсэн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2377440"/>
            <a:ext cx="2011680" cy="822960"/>
          </a:xfrm>
          <a:prstGeom prst="rect">
            <a:avLst/>
          </a:prstGeom>
          <a:solidFill>
            <a:srgbClr val="FFF3CC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A3000"/>
                </a:solidFill>
              </a:rPr>
              <a:t>Говийн Арена
туршилтын ажиллагаа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2770632"/>
            <a:ext cx="228600" cy="36576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79" y="277063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277063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14600" y="277063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53312" y="3200400"/>
            <a:ext cx="36576" cy="640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Admin панел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Блоклох систем
3 цуцлалт → 1 сар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QPay / SocialPay
төлбөр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2-р заал нэмэх
(өргөтгөл)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6053328"/>
            <a:ext cx="1645920" cy="320040"/>
          </a:xfrm>
          <a:prstGeom prst="rect">
            <a:avLst/>
          </a:prstGeom>
          <a:solidFill>
            <a:srgbClr val="D4EDDA"/>
          </a:solidFill>
          <a:ln w="1524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C3E"/>
                </a:solidFill>
              </a:rPr>
              <a:t>Дууссан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6053328"/>
            <a:ext cx="1645920" cy="320040"/>
          </a:xfrm>
          <a:prstGeom prst="rect">
            <a:avLst/>
          </a:prstGeom>
          <a:solidFill>
            <a:srgbClr val="FFF3CC"/>
          </a:solidFill>
          <a:ln w="1524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4700F"/>
                </a:solidFill>
              </a:rPr>
              <a:t>Үргэлжлэх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6053328"/>
            <a:ext cx="1645920" cy="320040"/>
          </a:xfrm>
          <a:prstGeom prst="rect">
            <a:avLst/>
          </a:prstGeom>
          <a:solidFill>
            <a:srgbClr val="DDDDD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</a:rPr>
              <a:t>Цаашид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Мобайл аппликейшны UI/UX загвар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4884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83564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73836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180" y="1243584"/>
            <a:ext cx="1865376" cy="4572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" y="1298448"/>
            <a:ext cx="1865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208"/>
                </a:solidFill>
              </a:rPr>
              <a:t>Говийн Спорт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" y="1517904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5438"/>
                </a:solidFill>
              </a:rPr>
              <a:t>Нэвтрэх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" y="1810512"/>
            <a:ext cx="512064" cy="51206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" y="1883664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" y="2450592"/>
            <a:ext cx="713232" cy="5486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75004" y="2450592"/>
            <a:ext cx="713232" cy="54864"/>
          </a:xfrm>
          <a:prstGeom prst="rect">
            <a:avLst/>
          </a:prstGeom>
          <a:solidFill>
            <a:srgbClr val="D0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8620" y="257860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Утасны дугаар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" y="2779776"/>
            <a:ext cx="1682496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" y="283464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438"/>
                </a:solidFill>
              </a:rPr>
              <a:t>+976  8800 1234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" y="3182112"/>
            <a:ext cx="1682496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" y="3236976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Код илгээх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" y="4105655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1">
                <a:solidFill>
                  <a:srgbClr val="6B5438"/>
                </a:solidFill>
              </a:rPr>
              <a:t>Говийн Спорт  •  Даланзадгад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Нэвтрэлт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47188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29484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29484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15868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06140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29484" y="1243584"/>
            <a:ext cx="1865376" cy="365760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20924" y="13167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208"/>
                </a:solidFill>
              </a:rPr>
              <a:t>Говийн Спорт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3964" y="1316736"/>
            <a:ext cx="219456" cy="219456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02636" y="1664208"/>
            <a:ext cx="171907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57500" y="1719072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5438"/>
                </a:solidFill>
              </a:rPr>
              <a:t>Хайх...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02636" y="2011680"/>
            <a:ext cx="1719072" cy="713232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02636" y="2011680"/>
            <a:ext cx="438912" cy="71323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6412" y="207568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208"/>
                </a:solidFill>
              </a:rPr>
              <a:t>Говийн Арена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6412" y="2286000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D4700F"/>
                </a:solidFill>
              </a:rPr>
              <a:t>15,000₮/цаг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6412" y="2468880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B5438"/>
                </a:solidFill>
              </a:rPr>
              <a:t>4.8 | нээлттэй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2636" y="2798064"/>
            <a:ext cx="1719072" cy="713232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02636" y="2798064"/>
            <a:ext cx="438912" cy="71323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96412" y="286207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208"/>
                </a:solidFill>
              </a:rPr>
              <a:t>Өмнөговь Спорт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6412" y="307238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D4700F"/>
                </a:solidFill>
              </a:rPr>
              <a:t>12,000₮/цаг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6412" y="325526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B5438"/>
                </a:solidFill>
              </a:rPr>
              <a:t>4.6 | нээлттэй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29484" y="3941063"/>
            <a:ext cx="1865376" cy="420624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729484" y="3941063"/>
            <a:ext cx="466344" cy="42062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29484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Нүүр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95828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Захиалга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62172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Профайл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28516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Chat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47188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Нүүр дэлгэц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9492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161788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61788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948172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838444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161788" y="1243584"/>
            <a:ext cx="1865376" cy="3118103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161788" y="1883664"/>
            <a:ext cx="1865376" cy="24780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875020" y="1947672"/>
            <a:ext cx="438912" cy="54864"/>
          </a:xfrm>
          <a:prstGeom prst="rect">
            <a:avLst/>
          </a:prstGeom>
          <a:solidFill>
            <a:srgbClr val="D0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253228" y="2066544"/>
            <a:ext cx="292608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00700" y="208483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208"/>
                </a:solidFill>
              </a:rPr>
              <a:t>Говийн Арена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0700" y="2231136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D4700F"/>
                </a:solidFill>
              </a:rPr>
              <a:t>15,000₮/цаг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34940" y="2468880"/>
            <a:ext cx="841248" cy="25603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34940" y="252374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Бүтэн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12764" y="2468880"/>
            <a:ext cx="84124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12764" y="252374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5438"/>
                </a:solidFill>
              </a:rPr>
              <a:t>Хагас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34940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34940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Да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4940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78754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78754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Мя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8754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22568" y="2834640"/>
            <a:ext cx="307238" cy="347472"/>
          </a:xfrm>
          <a:prstGeom prst="rect">
            <a:avLst/>
          </a:prstGeom>
          <a:solidFill>
            <a:srgbClr val="D4700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22568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Лх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22568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6382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66382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Пү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6382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10196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610196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Ба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0196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34940" y="329184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34940" y="333756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08:00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07964" y="3291840"/>
            <a:ext cx="545592" cy="237744"/>
          </a:xfrm>
          <a:prstGeom prst="rect">
            <a:avLst/>
          </a:prstGeom>
          <a:solidFill>
            <a:srgbClr val="E4DDD0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807964" y="333756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09:00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80988" y="3291840"/>
            <a:ext cx="545592" cy="237744"/>
          </a:xfrm>
          <a:prstGeom prst="rect">
            <a:avLst/>
          </a:prstGeom>
          <a:solidFill>
            <a:srgbClr val="E4DDD0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80988" y="333756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10:00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34940" y="356616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34940" y="361188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11:00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07964" y="3566160"/>
            <a:ext cx="545592" cy="237744"/>
          </a:xfrm>
          <a:prstGeom prst="rect">
            <a:avLst/>
          </a:prstGeom>
          <a:solidFill>
            <a:srgbClr val="D4700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807964" y="361188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14:00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80988" y="3566160"/>
            <a:ext cx="545592" cy="237744"/>
          </a:xfrm>
          <a:prstGeom prst="rect">
            <a:avLst/>
          </a:prstGeom>
          <a:solidFill>
            <a:srgbClr val="D4700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380988" y="361188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15:00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34940" y="384048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234940" y="388620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16:00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807964" y="384048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807964" y="388620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17:00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80988" y="384048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80988" y="388620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18:00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34940" y="3941063"/>
            <a:ext cx="1719072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234940" y="3977639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Захиалах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79492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Захиалгын хуудас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11796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594092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594092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380476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270748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594092" y="1243584"/>
            <a:ext cx="1865376" cy="329184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594092" y="1307592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208"/>
                </a:solidFill>
              </a:rPr>
              <a:t>Баталгаажуулалт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67244" y="1645920"/>
            <a:ext cx="1719072" cy="96926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722108" y="1719072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Говийн Арена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22108" y="1901952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DDBB"/>
                </a:solidFill>
              </a:rPr>
              <a:t>Бүтэн талбай  •  14:00 – 16:00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685532" y="2121408"/>
            <a:ext cx="168249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722108" y="2176272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30,000₮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85532" y="27066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Таны мэдээлэл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67244" y="2907792"/>
            <a:ext cx="1719072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22108" y="2962656"/>
            <a:ext cx="16093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5438"/>
                </a:solidFill>
              </a:rPr>
              <a:t>Нэр оруулах...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67244" y="3182112"/>
            <a:ext cx="1719072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722108" y="3236976"/>
            <a:ext cx="16093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B5438"/>
                </a:solidFill>
              </a:rPr>
              <a:t>+976 8800 1234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85532" y="352958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Төлбөрийн хэлбэр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667244" y="3749040"/>
            <a:ext cx="548640" cy="310896"/>
          </a:xfrm>
          <a:prstGeom prst="rect">
            <a:avLst/>
          </a:prstGeom>
          <a:solidFill>
            <a:srgbClr val="D4700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667244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QPay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252460" y="3749040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252460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Карт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837676" y="3749040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837676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Бэлэн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67244" y="3941063"/>
            <a:ext cx="1719072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67244" y="3977639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Баталгаажуулах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511796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Баталгаажуулалт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944100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0026396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0026396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812780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703052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026396" y="1243584"/>
            <a:ext cx="1865376" cy="329184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026396" y="1307592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208"/>
                </a:solidFill>
              </a:rPr>
              <a:t>Миний захиалгууд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026396" y="1627632"/>
            <a:ext cx="1865376" cy="274320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026396" y="1627632"/>
            <a:ext cx="466344" cy="2743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026396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Бүгд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492740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Идэвхтэй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959084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Хүлээгдэж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425428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Дууссан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099548" y="1993392"/>
            <a:ext cx="1719072" cy="658368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0099548" y="1993392"/>
            <a:ext cx="329184" cy="65836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483596" y="205740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Говийн Арена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483596" y="2249424"/>
            <a:ext cx="493776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483596" y="2267712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FFFFFF"/>
                </a:solidFill>
              </a:rPr>
              <a:t>Хүлээгдэж буй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483596" y="2450592"/>
            <a:ext cx="12984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B5438"/>
                </a:solidFill>
              </a:rPr>
              <a:t>2026-04-03  14:00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099548" y="2724912"/>
            <a:ext cx="1719072" cy="658368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0099548" y="2724912"/>
            <a:ext cx="329184" cy="65836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483596" y="2788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Стадионы Заал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483596" y="2980944"/>
            <a:ext cx="493776" cy="1645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10483596" y="2999232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FFFFFF"/>
                </a:solidFill>
              </a:rPr>
              <a:t>Дууссан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483596" y="3182112"/>
            <a:ext cx="12984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B5438"/>
                </a:solidFill>
              </a:rPr>
              <a:t>2026-04-04  14:00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099548" y="3456432"/>
            <a:ext cx="1719072" cy="658368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0099548" y="3456432"/>
            <a:ext cx="329184" cy="65836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0483596" y="352044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Өмнөговь Спорт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483596" y="3712464"/>
            <a:ext cx="493776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483596" y="3730752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FFFFFF"/>
                </a:solidFill>
              </a:rPr>
              <a:t>Цуцлагдсан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483596" y="3913632"/>
            <a:ext cx="12984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B5438"/>
                </a:solidFill>
              </a:rPr>
              <a:t>2026-04-05  14:00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026396" y="3959351"/>
            <a:ext cx="1865376" cy="402336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026396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Нүүр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492740" y="3959351"/>
            <a:ext cx="466344" cy="402336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492740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Захиалга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959084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Профайл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425428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Chat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944100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Миний захиалгууд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Захиалгын үйл явц ба давхцал шалгах логик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932688"/>
            <a:ext cx="1664208" cy="171907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CBB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Заал
сонгох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SportVenue
объект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48256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03120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23694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44268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64842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85416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05990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26564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47138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0" y="932688"/>
            <a:ext cx="1664208" cy="17190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07792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07792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5C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Өдөр
сонгох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DateTime
параметр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50208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005072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25646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46220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066794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087368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07942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28516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49090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87952" y="932688"/>
            <a:ext cx="1664208" cy="1719072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09744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9744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572A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Цаг
сонгох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TimeSlot
жагсаалт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07024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27598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8172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68746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89320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09894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30468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051042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89904" y="932688"/>
            <a:ext cx="1664208" cy="17190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711696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11696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148C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Талбай
сонгох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9904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Full / Half
court type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808976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829550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850124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870698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891272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911846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932420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52994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991856" y="932688"/>
            <a:ext cx="1664208" cy="17190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613648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13648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91856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Баталгаажуулах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91856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POST
/api/bookings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56064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710928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731502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752076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772650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793224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813798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834372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854946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93808" y="932688"/>
            <a:ext cx="1664208" cy="17190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515600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515600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93808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Код &amp; мэдэгдэл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93808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DBK-XXXXX
Push notif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" y="2907792"/>
            <a:ext cx="5394960" cy="2322576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84048" y="2907792"/>
            <a:ext cx="73152" cy="2322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298094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Давхцал шалгах алгоритм  (Conflict Detection Logic)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3401568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1.  Firestore query:  venueId + dateKey + timeSlot + status IN [upcoming, active]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749040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2.  Хэрэв бүтэн талбай (fullCourt): ямар ч захиалга байвал  → 409 Conflict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4096512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3.  Хэрэв хагас талбай (halfCourt): бүтэн зах. байвал  → 409 Conflict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4443984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4.  Хагас × 2 байвал  → 409 Conflict  (бүтэн болсон тул)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4791456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5.  Нөхцөл хангагдвал  doc.add(...)  → 201 Created  +  DBK-XXXXX код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98464" y="2907792"/>
            <a:ext cx="5852160" cy="2322576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998464" y="2907792"/>
            <a:ext cx="73152" cy="23225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163056" y="2980944"/>
            <a:ext cx="5596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Захиалгын статусын шилжилт  (State Machine)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0" y="3456432"/>
            <a:ext cx="1682496" cy="49377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0800" y="352958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upcoming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2480" y="3456432"/>
            <a:ext cx="1682496" cy="4937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412480" y="352958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1280" y="3456432"/>
            <a:ext cx="1682496" cy="4937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41280" y="352958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12480" y="4187952"/>
            <a:ext cx="1682496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0" y="426110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83296" y="3682746"/>
            <a:ext cx="164592" cy="411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47888" y="3611880"/>
            <a:ext cx="22402" cy="182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268462" y="3623310"/>
            <a:ext cx="22402" cy="1600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289036" y="3634740"/>
            <a:ext cx="22402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309610" y="3646170"/>
            <a:ext cx="22402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330184" y="3657600"/>
            <a:ext cx="22402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350758" y="3669030"/>
            <a:ext cx="22402" cy="685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371332" y="3680460"/>
            <a:ext cx="22402" cy="45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8391906" y="3691890"/>
            <a:ext cx="22402" cy="228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076688" y="3611880"/>
            <a:ext cx="22402" cy="182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0097262" y="3623310"/>
            <a:ext cx="22402" cy="1600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117836" y="3634740"/>
            <a:ext cx="22402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38410" y="3646170"/>
            <a:ext cx="22402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158984" y="3657600"/>
            <a:ext cx="22402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0179558" y="3669030"/>
            <a:ext cx="22402" cy="685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200132" y="3680460"/>
            <a:ext cx="22402" cy="45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0220706" y="3691890"/>
            <a:ext cx="22402" cy="228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083296" y="34930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cron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76688" y="34930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cron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33154" y="3950208"/>
            <a:ext cx="41148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9153144" y="4023360"/>
            <a:ext cx="201168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9164320" y="4041648"/>
            <a:ext cx="178816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175496" y="4059936"/>
            <a:ext cx="156464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186672" y="4078224"/>
            <a:ext cx="134112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9197848" y="4096512"/>
            <a:ext cx="111760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209024" y="4114800"/>
            <a:ext cx="89408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9220200" y="4133088"/>
            <a:ext cx="67056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231376" y="4151376"/>
            <a:ext cx="44704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242552" y="4169664"/>
            <a:ext cx="22352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290304" y="40050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0392B"/>
                </a:solidFill>
              </a:rPr>
              <a:t>user cancel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Backend архитектур ба REST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A5C"/>
                </a:solidFill>
              </a:rPr>
              <a:t>REST API Endpoint-уудын тодорхойлолт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61872"/>
            <a:ext cx="54864" cy="69494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1389888"/>
            <a:ext cx="804672" cy="42062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426464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353312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35331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353312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Захиалга үүсгэх — давхцал шалгаад Firestore-д бичнэ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66544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066544"/>
            <a:ext cx="54864" cy="69494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0352" y="2194560"/>
            <a:ext cx="804672" cy="420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23113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157984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/api/bookings?phone=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15798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404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157984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Утасны дугаараар хэрэглэгчийн захиалгын жагсаалт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71216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54864" cy="69494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0352" y="2999232"/>
            <a:ext cx="804672" cy="420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035808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2962656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9626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2962656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Тухайн заалны өдөрт бодит цагийн слотуудын статус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75888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675888"/>
            <a:ext cx="54864" cy="69494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" y="3803904"/>
            <a:ext cx="804672" cy="42062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384048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3767328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376732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201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767328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Хэрэглэгч олдвол шинэчлэх, олдохгүй бол шинэ үүсгэх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80560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480560"/>
            <a:ext cx="54864" cy="69494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0352" y="4608576"/>
            <a:ext cx="804672" cy="420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4645152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4572000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/api/users/:phone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457200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404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0368" y="4572000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Хэрэглэгчийн профайлын мэдээлэл авах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285232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5285232"/>
            <a:ext cx="54864" cy="69494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0352" y="5413248"/>
            <a:ext cx="804672" cy="42062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5449824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4752" y="5376672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/api/chat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2272" y="53766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0368" y="5376672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Groq / LLaMA 3.1 8B-д мессэж дамжуулж хариулт авах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822960"/>
            <a:ext cx="3749039" cy="532180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0" y="914400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Архитектурын шийдэл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47888" y="1371600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47888" y="1371600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57616" y="143560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Middleware Stack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7616" y="1755648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cors()  →  express.json()
env-based config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47888" y="2267712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47888" y="2267712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57616" y="233172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Error Handling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7616" y="265176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400 validation  /  409 conflict
500 server error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3163824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47888" y="3163824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57616" y="3227832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Cron Scheduler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57616" y="3547872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node-cron тогтмол ажиллана
Firestore batch write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47888" y="4059936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47888" y="4059936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57616" y="412394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57616" y="4443984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Groq OpenAI-compatible API
llama-3.1-8b-instant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47888" y="4956048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247888" y="4956048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57616" y="502005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57616" y="5340096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HTTPS,  env secrets
Firebase Admin auth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AI туслах: Groq / LLaMA 3.1 нэгтгэл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822960"/>
            <a:ext cx="5120640" cy="5321808"/>
          </a:xfrm>
          <a:prstGeom prst="rect">
            <a:avLst/>
          </a:prstGeom>
          <a:solidFill>
            <a:srgbClr val="F2F4F7"/>
          </a:solidFill>
          <a:ln w="190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Харилцааны дохионы урсгал  (Message Flow)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389888"/>
            <a:ext cx="365760" cy="53035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1389888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148132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BB"/>
                </a:solidFill>
              </a:rPr>
              <a:t>Хэрэглэгч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389888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40864" y="148132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ChatScreen-д мессэж бичнэ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658" y="1920240"/>
            <a:ext cx="41148" cy="49377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" y="2414016"/>
            <a:ext cx="20116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824" y="2432304"/>
            <a:ext cx="17881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000" y="2450592"/>
            <a:ext cx="15646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6176" y="2468880"/>
            <a:ext cx="13411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7352" y="2487168"/>
            <a:ext cx="111760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8528" y="2505456"/>
            <a:ext cx="8940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9704" y="2523744"/>
            <a:ext cx="6705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880" y="2542032"/>
            <a:ext cx="4470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2056" y="2560320"/>
            <a:ext cx="2235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0352" y="2048256"/>
            <a:ext cx="365760" cy="530352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215798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2048256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" y="2139696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86D8"/>
                </a:solidFill>
              </a:rPr>
              <a:t>Flutter 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2048256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40864" y="2139696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 /api/chat  { messages 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658" y="2578608"/>
            <a:ext cx="41148" cy="49377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8" y="3072384"/>
            <a:ext cx="201168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824" y="3090672"/>
            <a:ext cx="178816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000" y="3108960"/>
            <a:ext cx="156464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6176" y="3127248"/>
            <a:ext cx="134112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7352" y="3145536"/>
            <a:ext cx="111760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8528" y="3163824"/>
            <a:ext cx="89408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79704" y="3182112"/>
            <a:ext cx="67056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90880" y="3200400"/>
            <a:ext cx="44704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2056" y="3218688"/>
            <a:ext cx="22352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30352" y="2706624"/>
            <a:ext cx="365760" cy="530352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281635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" y="2706624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9264" y="2798064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72A"/>
                </a:solidFill>
              </a:rPr>
              <a:t>Express.js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2706624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40864" y="2798064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System prompt + user content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2658" y="3236976"/>
            <a:ext cx="41148" cy="4937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2648" y="3730752"/>
            <a:ext cx="20116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3824" y="3749040"/>
            <a:ext cx="17881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5000" y="3767328"/>
            <a:ext cx="15646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6176" y="3785616"/>
            <a:ext cx="13411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7352" y="3803904"/>
            <a:ext cx="111760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68528" y="3822192"/>
            <a:ext cx="8940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79704" y="3840480"/>
            <a:ext cx="6705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0880" y="3858768"/>
            <a:ext cx="4470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02056" y="3877056"/>
            <a:ext cx="2235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30352" y="3364992"/>
            <a:ext cx="365760" cy="53035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0352" y="347472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" y="3364992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264" y="3456432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Groq API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3364992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340864" y="3456432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llama-3.1-8b-instant model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2658" y="3895344"/>
            <a:ext cx="41148" cy="49377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12648" y="4389120"/>
            <a:ext cx="201168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23824" y="4407408"/>
            <a:ext cx="178816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35000" y="4425696"/>
            <a:ext cx="156464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6176" y="4443984"/>
            <a:ext cx="134112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57352" y="4462272"/>
            <a:ext cx="111760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68528" y="4480560"/>
            <a:ext cx="89408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79704" y="4498848"/>
            <a:ext cx="67056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90880" y="4517136"/>
            <a:ext cx="44704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02056" y="4535424"/>
            <a:ext cx="22352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30352" y="4023360"/>
            <a:ext cx="365760" cy="530352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0352" y="41330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0976" y="4023360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69264" y="4114800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72A"/>
                </a:solidFill>
              </a:rPr>
              <a:t>Express.js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0" y="4023360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340864" y="4114800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response.choices[0].message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2658" y="4553712"/>
            <a:ext cx="41148" cy="4937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12648" y="5047488"/>
            <a:ext cx="20116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23824" y="5065776"/>
            <a:ext cx="17881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35000" y="5084064"/>
            <a:ext cx="15646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46176" y="5102352"/>
            <a:ext cx="13411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57352" y="5120640"/>
            <a:ext cx="111760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68528" y="5138928"/>
            <a:ext cx="8940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79704" y="5157216"/>
            <a:ext cx="6705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90880" y="5175504"/>
            <a:ext cx="4470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02056" y="5193792"/>
            <a:ext cx="2235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30352" y="4681728"/>
            <a:ext cx="365760" cy="53035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0352" y="47914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0976" y="4681728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69264" y="477316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BB"/>
                </a:solidFill>
              </a:rPr>
              <a:t>Flutter UI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86000" y="4681728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40864" y="477316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ChatScreen-д хариулт харуулна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87568" y="822960"/>
            <a:ext cx="6199632" cy="250545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833872" y="914400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System Prompt агуулга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33872" y="1353312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Байгууллагын нэр, чиг үүрэг: Говийн Спорт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33872" y="1700784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 заалны нэр, байршил, үнэ, нээлттэй цаг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33872" y="2048256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Цагийн хуваарь: 08:00 — 00:00  (16 слот)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33872" y="2395728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Захиалгын үйл явцын алхамууд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33872" y="2743200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Монгол хэлээр товч, нарийвчлалтай хариулах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687568" y="3456432"/>
            <a:ext cx="6199632" cy="2688336"/>
          </a:xfrm>
          <a:prstGeom prst="rect">
            <a:avLst/>
          </a:prstGeom>
          <a:solidFill>
            <a:srgbClr val="F2F4F7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833872" y="3547872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Загварын техникийн тодорхойлолт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33872" y="39684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Загвар: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99248" y="396849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meta-llama/Llama-3.1-8B-Instruct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33872" y="43342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Параметр: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99248" y="433425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8 тэрбум  (8B)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33872" y="4700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Context window: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99248" y="470001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128,000 token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33872" y="50657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API endpoint: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99248" y="506577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api.groq.com/openai/v1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33872" y="54315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Хариултын хурд: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99248" y="543153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llama-3.1-8b-instant — маш хурдан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833872" y="57972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Хэл дэмжлэг: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99248" y="579729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Монгол хэлийг дэмжинэ (multilingual)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Firebase интеграц ба мэдэгдлийн систем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822960"/>
            <a:ext cx="5650992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822960"/>
            <a:ext cx="5650992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822960"/>
            <a:ext cx="73152" cy="5321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8778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Firebase Firestore  —  Мэдээллийн сан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89888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Collections болон индексийн бүрдэл:
  bookings:  venueId, dateKey, timeSlot, courtType, status,
             userName, userPhone, code, price, createdAt
  users:     phone, name, uid, createdAt
Compound index: venueId + dateKey + timeSlot + status
(давхцал шалгах WHERE query-г хурдасгадаг)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822960"/>
            <a:ext cx="5650992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822960"/>
            <a:ext cx="5650992" cy="475488"/>
          </a:xfrm>
          <a:prstGeom prst="rect">
            <a:avLst/>
          </a:prstGeom>
          <a:solidFill>
            <a:srgbClr val="BF3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822960"/>
            <a:ext cx="73152" cy="5321808"/>
          </a:xfrm>
          <a:prstGeom prst="rect">
            <a:avLst/>
          </a:prstGeom>
          <a:solidFill>
            <a:srgbClr val="BF3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8778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Firebase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389888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Баталгаажуулалтын урсгал:
  1.  Хэрэглэгч утасны дугаар оруулна
  2.  Firebase OTP SMS илгээнэ
  3.  6 оронтой кодыг баталгаажуулна
  4.  UID болон ID token олгогдоно
  5.  Token-ийг Firestore users collection-д хадгална
Нэвтрэлт шаардлагатай таб: Захиалга, Профайл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266944"/>
            <a:ext cx="11411712" cy="9144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534009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Firebase Cloud Messaging (FCM)  —  Push мэдэгдэл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Захиалга баталгаажих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Цагаас 30 мин өмнө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Захиалга дуусмагц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Промо мэдэгдэл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CI/CD Pipeline ба үүлэн дэд бүтэц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914400"/>
            <a:ext cx="1719072" cy="192024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 push
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Developer
workstation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66544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39696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60270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80844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01418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21992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42566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63140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3714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22576" y="914400"/>
            <a:ext cx="1719072" cy="1920240"/>
          </a:xfrm>
          <a:prstGeom prst="rect">
            <a:avLst/>
          </a:prstGeom>
          <a:solidFill>
            <a:srgbClr val="24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22576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2576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0592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22576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YAML workflow
.github/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41648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0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35374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55948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76522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97096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17670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38244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8818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97680" y="914400"/>
            <a:ext cx="1719072" cy="1920240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Docker
build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25696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0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node:20-alpine
image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16752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89904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10478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31052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51626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72200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92774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3348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33922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4" y="914400"/>
            <a:ext cx="1719072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72784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72784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ECR
push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72784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AWS Elastic
Container Reg.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91856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65008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85582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06156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26730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47304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67878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188452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09026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247888" y="914400"/>
            <a:ext cx="1719072" cy="1920240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47888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47888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EC2
deploy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75904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47888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ap-southeast-1
Singapore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040112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60686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081260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101834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122408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142982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163556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184130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222992" y="914400"/>
            <a:ext cx="1719072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222992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22992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Health
check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351008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222992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Port 3000
liveness probe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" y="3035808"/>
            <a:ext cx="5376672" cy="2706624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47472" y="3035808"/>
            <a:ext cx="73152" cy="270662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12064" y="3108960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Docker container тодорхойлолт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2064" y="3547872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0080" y="3547872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FROM node:20-alpine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2064" y="3877056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0080" y="3877056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WORKDIR /app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2064" y="4206240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0080" y="4206240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COPY package*.json ./  &amp;&amp;  npm ci --only=production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2064" y="4535424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0080" y="4535424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COPY . 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2064" y="4864608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080" y="4864608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EXPOSE 3000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2064" y="5193792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0080" y="5193792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CMD ["node", "server.js"]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3035808"/>
            <a:ext cx="5925312" cy="2706624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5943600" y="3035808"/>
            <a:ext cx="73152" cy="2706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108192" y="31089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Орчны хувьсагч  (.env secrets)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08192" y="35478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PORT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08192" y="387705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3000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08192" y="416966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GROQ_API_KEY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08192" y="44988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gsk_...  (Groq Console)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08192" y="479145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FIREBASE_SERVICE_ACCOUNT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08192" y="5120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JSON string (minified, 1 line)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Хэрэгжилтийн явц ба туршилтын үр дүн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896112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005840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00584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9875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Flutter мобайл апп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38988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8 дэлгэц бүрэн хөгжүүлсэн — HomeScreen, BookingSheet, ConfirmationScreen, BookingsScreen, ProfileScreen, ChatScreen, NotificationsScreen, DetailScreen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896112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9088" y="1005840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00584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9875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Node.js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38988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6 endpoint бүрэн хэрэгжсэн, production орчинд ажиллаж байна — bookings, schedule, users,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322576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" y="2432304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243230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24140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Firebase нэгтгэл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281635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Firestore мэдээллийн сан, Phone Auth (OTP), FCM push notification бүрэн тохируулагдаж туршигдсан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322576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19088" y="2432304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243230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4140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AI Chat туслах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81635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Groq / LLaMA 3.1 8B — system prompt-д монгол хэлний заалны мэдээлэл агуулуулсан, хариултын хурд &lt; 1 секунд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749040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" y="3858768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8587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" y="38404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Захиалгын conflict логик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424281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Бүтэн / хагас талбайн давхцал шалгалт, Firestore compound index, 409 алдааны зохицуулалт туршигдсан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1072" y="3749040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19088" y="3858768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38587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38404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AWS EC2 + 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24281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Docker container, AWS ECR, GitHub Actions pipeline бүрэн ажиллаж байна. main branch push → автомат deploy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5175504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5488" y="5285232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528523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" y="52669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Цагийн хуваарь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566928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08:00 — 00:00, нийт 16 цагийн слот (1 цагийн нэгж), node-cron автомат статус шинэчлэл ажиллаж байна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5175504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19088" y="5285232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19088" y="528523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6016" y="52669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UI / UX дизайн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566928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Material Design 3, custom AppTheme, warm beige palette, bottom navigation, modal bottom sheet бүрэн хэрэгжсэн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Системийн давуу тал ба хязгаарлалт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822960"/>
            <a:ext cx="5559552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822960"/>
            <a:ext cx="5559552" cy="475488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877824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Системийн давуу тал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138988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13898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Cross-platform бүрдэл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164592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Flutter нэг кодоос iOS болон Android хувилбарыг зэрэг бүрдүүлнэ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193852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19385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Бодит цагийн давхцал хяналт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19456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Firestore compound index дээр суурилсан хурдан, найдвартай query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248716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2487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Уян хатан захиалгын тогтолцоо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74320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Хагас / бүтэн талбайн логик — нэг слотод 2 бие даасан захиалга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303580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035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AI туслах систем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29184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Монгол хэлний system prompt бүхий chatbot хариултыг оновчтой болгоно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58444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3584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Serverless + Cloud гибрид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84048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Firebase serverless + AWS EC2 хослолоор зардал ба хурд тэнцвэрждэг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413308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133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Автомат CI/CD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38912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GitHub Actions — код push хийхэд шууд production-д deploy хийнэ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468172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4681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Масштаблах чадвар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93776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Firestore ба EC2 масштаблах чадвартай тул хэрэглэгчийн тоо өсөхөд нийцнэ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9904" y="822960"/>
            <a:ext cx="5779008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89904" y="822960"/>
            <a:ext cx="5779008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36208" y="877824"/>
            <a:ext cx="555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Хязгаарлалт ба цаашдын ажил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138988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28816" y="13898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Онлайн төлбөр байхгүй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16459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QPay / SocialPay нэгтгэл хийгдэх шаардлагатай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202996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28816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Admin panel дутагдалтай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228600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Заалны захиалга удирдлага, орлогын тайлангийн веб самбар хэрэгтэй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267004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28816" y="2670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Load testing хийгдээгүй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8816" y="292608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Нэгэн зэрэг олон хэрэглэгчийн ачааллын туршилт хийгдэх шаардлагатай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331012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28816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Offline sync механизм байхгүй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8816" y="356616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Интернэтгүй орчинд захиалга боловсруулах логик хэрэгтэй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6208" y="395020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28816" y="3950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Analytics модуль байхгүй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8816" y="420624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Хэрэглэгчийн зан байдлын дата, тайлангийн систем нэвтрүүлэх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6208" y="459028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28816" y="45902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Зурагны хадгалалт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8816" y="48463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Заалны зургийг Firebase Storage-т шилжүүлэх шаардлагатай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Цаашдын судалгааны чиглэл ба хөгжүүлэлт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914400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914400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914400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9966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 QPay / SocialPay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517904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Монголын тогтвортой төлбөрийн системүүдтэй нэгтгэл хийж захиалгыг бүрэн автоматчилсан, цаасгүй орчин бүрдүүлэх.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914400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914400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914400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9966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 Admin Web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517904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Заалны эздэд зориулсан веб самбар: бодит цагийн хуваарь удирдлага, орлогын дата аналитик, захиалгын тайлан.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914400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47888" y="914400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47888" y="914400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9966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 Үнэлгээ ба сэтгэгдэл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517904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Захиалга дуусмагц 5 одтой үнэлгээ, бичгэн сэтгэгдэл — машин суралцалтаар заалны чанарын индекс тодорхойлох.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493008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" y="3493008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" y="3493008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357530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 Байршлын нэгтгэл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096512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Google Maps нэгтгэж заалны газрын зурагтай харуулах, хэрэглэгчийн байрлалаас ойр заалнуудыг зөвлөмжлөх.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493008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3493008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3493008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62272" y="357530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  AI сайжруулалт  (RAG)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096512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Retrieval-Augmented Generation аргачлалаар байнга шинэчлэгдэх заалны мэдлэгийн сантай холбосон ухаалаг туслах систем болгох.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493008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47888" y="3493008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47888" y="3493008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357530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6.  Cross-platform өргөтгөл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096512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Flutter Web болон Tablet-д зориулсан responsive layout, заалны ажилтнуудад зориулсан desktop хувилбар.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Ажлын хуваарь — Хийгдсэн ба хийгдэх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11795760" cy="38404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87782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Хугацаа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8778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Ажлын агуулга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20700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7008" y="120700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33502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2025.10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31673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Судалгаа, Говийн Арена ярилцлага, шаардлагын дүн шинжилгээ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80136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" y="180136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192938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2025.11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191109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Flutter апп, Firebase Auth, Firestore хэрэгжүүлэлт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39572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7008" y="239572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252374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2025.12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50545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Node.js бэкэнд, Docker/AWS EC2, GitHub Actions CI/CD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299008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07008" y="299008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" y="311810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2026.01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9981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AI чатбот (Claude Haiku + Groq Llama), email нэвтрэлт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358444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7008" y="358444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371246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2026.02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69417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Туршилт (10/10), дипломын баримт бичиг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178808"/>
            <a:ext cx="11795760" cy="557784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" y="4178808"/>
            <a:ext cx="109728" cy="55778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" y="430682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00F"/>
                </a:solidFill>
              </a:rPr>
              <a:t>2026.04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28853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3000"/>
                </a:solidFill>
              </a:rPr>
              <a:t>▶  Говийн Арена туршилтын ажиллагаа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4773168"/>
            <a:ext cx="11795760" cy="55778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7008" y="4773168"/>
            <a:ext cx="109728" cy="5577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490118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2026.05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88289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○  Admin панел, блоклох систем (3 цуцлалт → 1 сар)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5367528"/>
            <a:ext cx="11795760" cy="55778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5367528"/>
            <a:ext cx="109728" cy="5577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" y="549554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2026.06+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47725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○  QPay төлбөр, 2-р заалд өргөтгөх — Cloud тасралтгүй хөгжинэ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6144768"/>
            <a:ext cx="11795760" cy="2926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16305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★  Үүлэн орчин дахь систем нь байнга хөгжиж, өргөжиж байдаг — Cloud development нь тасралтгүй үйл явц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Дүгнэлт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804672"/>
            <a:ext cx="11484864" cy="1042415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877824"/>
            <a:ext cx="11137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Энэхүү судалгааны ажлын хүрээнд үүлэн орчинд суурилсан, 3 давхаргат архитектур бүхий, AI туслахтай спортын заалны цаг захиалгын систем амжилттай загварчлагдаж хэрэгжлээ. Flutter (Presentation), Node.js (Application), Firebase (Data) давхаргуудыг AWS EC2 дэд бүтцэд суурилуулан нэгтгэв.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029968"/>
            <a:ext cx="3749039" cy="197510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2029968"/>
            <a:ext cx="3749039" cy="457200"/>
          </a:xfrm>
          <a:prstGeom prst="rect">
            <a:avLst/>
          </a:prstGeom>
          <a:solidFill>
            <a:srgbClr val="003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029968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2103120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Presentation
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Flutter 3.x
8 дэлгэц
iOS / Android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029968"/>
            <a:ext cx="3749039" cy="197510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2029968"/>
            <a:ext cx="3749039" cy="457200"/>
          </a:xfrm>
          <a:prstGeom prst="rect">
            <a:avLst/>
          </a:prstGeom>
          <a:solidFill>
            <a:srgbClr val="002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2029968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2103120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
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651760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Node.js 20
Express API
Groq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7888" y="4169664"/>
            <a:ext cx="3749039" cy="19751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47888" y="4169664"/>
            <a:ext cx="3749039" cy="457200"/>
          </a:xfrm>
          <a:prstGeom prst="rect">
            <a:avLst/>
          </a:prstGeom>
          <a:solidFill>
            <a:srgbClr val="BE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47888" y="4169664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4242816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91456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Firestore
Firebase Auth
FCM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4169664"/>
            <a:ext cx="3749039" cy="197510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" y="4169664"/>
            <a:ext cx="3749039" cy="457200"/>
          </a:xfrm>
          <a:prstGeom prst="rect">
            <a:avLst/>
          </a:prstGeom>
          <a:solidFill>
            <a:srgbClr val="00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7472" y="4169664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242816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CI/CD
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791456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AWS EC2
Docker / ECR
GitHub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6309360"/>
            <a:ext cx="3749039" cy="1975104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6309360"/>
            <a:ext cx="3749039" cy="457200"/>
          </a:xfrm>
          <a:prstGeom prst="rect">
            <a:avLst/>
          </a:prstGeom>
          <a:solidFill>
            <a:srgbClr val="22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97680" y="6309360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62272" y="6382512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6931152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LLaMA 3.1 8B
Монгол хэл
System 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6309360"/>
            <a:ext cx="3749039" cy="19751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47888" y="6309360"/>
            <a:ext cx="3749039" cy="457200"/>
          </a:xfrm>
          <a:prstGeom prst="rect">
            <a:avLst/>
          </a:prstGeom>
          <a:solidFill>
            <a:srgbClr val="981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47888" y="6309360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6382512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Conflict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931152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Compound index
Half / full court
State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" y="6126480"/>
            <a:ext cx="11484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66666"/>
                </a:solidFill>
              </a:rPr>
              <a:t>Цаашид онлайн төлбөр, admin самбар, RAG-д суурилсан AI, байршлын нэгтгэлээр системийг өргөтгөн судалгааны үр дүнг баяжуулах боломжтой.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28016"/>
            <a:ext cx="676656" cy="6766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71600" y="1426464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418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0A1A5C"/>
                </a:solidFill>
              </a:rPr>
              <a:t>БАЯРЛАЛАА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816352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418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Асуулт болон саналд хариулахад бэлэн байна.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82219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5C"/>
                </a:solidFill>
              </a:rPr>
              <a:t>Илтгэгч:    М. Түвшинжаргал (B221940619)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169663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Удирдагч:  Доктор (Ph.D) Д.Эрдэнэтуяа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75488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A1A5C"/>
                </a:solidFill>
              </a:rPr>
              <a:t>Үүлэн орчинд суурилсан спорт заалны цаг захиалгын 3 давхаргат системийн загварчлал, хэрэгжилт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64739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5C08"/>
                </a:solidFill>
              </a:rPr>
              <a:t>🏟️  Говийн Спорт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56032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Хэрэглэгчийн
Гарын Авлага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E0C0"/>
                </a:solidFill>
              </a:rPr>
              <a:t>Спорт заал захиалах алхам алхмаар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700F"/>
                </a:solidFill>
              </a:rPr>
              <a:t>Энэ гарын авлагад: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91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📱  Апп-ын бүрэн танилцуулга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40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🔐  Бүртгэл ба нэвтрэлтийн заавар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788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📅  Захиалга хийх алхам алхмаар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337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🏟️  4 спорт заалны мэдээлэл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886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⏰  16 цагийн хуваарь (08:00–00:00)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434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🤖  AI туслагч чатботын ашиглалт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983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📋  Захиалга удирдах функцүүд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ШУТИС • Даланзадгад хотын спорт заалны цаг захиалгын систем •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Апп-ын танилцуулга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Говийн Спорт — Даланзадгад хотын спорт заалны нэгдсэн захиалгын систем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🏟️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4 Спорт Заал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Нэг платформд нэгдсэн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16 Цагийн Үе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08:00–00:00, өдөр бүр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7160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Бодит Цагийн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Firebase Firestore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AI Чатбот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Claude Haiku + Groq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92608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Сануулга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1 цагийн өмнө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92608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OTP Баталгаа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6 оронтой email код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572000"/>
            <a:ext cx="11521440" cy="82296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85C08"/>
                </a:solidFill>
              </a:rPr>
              <a:t>🎨  Дизайн: Material Design 3  •  Montserrat фонт  •  Цайвар говийн тон (#EDE7DA бежийн дэвсгэр, #D4700F наранжин)  •  Android &amp; iOS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Спорт Заалнууд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Аппд бүртгэлтэй 4 спорт заал — нэг дор захиалах боломжтой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37160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🟠  Говийн Арена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1-р хороо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990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15,000₮/цаг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99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4.8 (124)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399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Паркинг, WiFi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37160" cy="10515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🟢  Өмнөговь Спорт Заал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2-р хороо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87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896"/>
                </a:solidFill>
              </a:rPr>
              <a:t>12,000₮/цаг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877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4.6 (89)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877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WiFi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03320"/>
            <a:ext cx="137160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76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🟣  Стадионы Спорт Заал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Стадион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76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8,000₮/цаг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764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4.5 (203)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764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Гэрэлтүүлэг, Камер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9204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892040"/>
            <a:ext cx="137160" cy="105156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65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🔵  Цэнтрийн Спорт Заал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3-р хороо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965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AFF"/>
                </a:solidFill>
              </a:rPr>
              <a:t>18,000₮/цаг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651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4.9 (67)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965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Тренер, WiFi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Апп-ын Дэлгэцүүд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4 үндсэн таб: Нүүр | Захиалга | AI Чат | Профайл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Нэвтрэх/
Бүртгэл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Email + нууц үг
• 6 оронтой OTP код
• Rollback механизм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7248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Нүүр хуудас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4 заалны жагсаалт
• Хайлт + шүүлтүүр
• Үнэлгээгээр эрэмбэлэх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0176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0176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Захиалах
(Bottom Sheet)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Бүтэн/Хагас талбай
• 14 хоногийн хуваарь
• 16 цагийн үе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3104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3104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Баталгаа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Нэр, email, төлбөр
• QPay/Карт/Бэлэн
• DBK-XXXXX дугаар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Захиалгууд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Бодит цагийн Firestore
• Статус: upcoming/active
• Цуцлах боломж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27248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1608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AI Чат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8688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Claude Haiku 4.5
• Groq Llama нөөц
• Асуулт-хариулт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0176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0176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Профайл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71616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Нэр, email, статистик
• Нийт/хүлээгдэж буй
• Гарах функц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33104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33104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24544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Мэдэгдэл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1 цагийн өмнө сануулга
• Локал (FCM-гүй)
• Офлайн ажиллана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Захиалга Хийх Алхамууд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Хэдхэн товшилтоор спорт заал захиална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Нэвтрэх / Бүртгүүлэх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56232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Email + нууц үг оруулна. Шинэ хэрэглэгч бол 6 оронтой OTP кодоор баталгаажуулна.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41732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Заал сонгох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856232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Нүүр хуудасны жагсаалтаас захиалах заалд дарна. Хайлт, шүүлтүүр ашиглаж болно.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61488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52928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80720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52928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Талбай + Өдөр + Цаг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9184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Бүтэн/Хагас талбай сонгоно. 14 хоногоос өдөр, 16 цагийн үеэс цагаа сонгоно.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61488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852928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0720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52928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Мэдээлэл + Төлбөр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29184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Нэр (автоматаар), email (автомат) шалгана. QPay/Карт/Бэлэн-ээс сонгоно.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97096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288536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4281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288536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Баталгаажуулах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274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'Захиалга баталгаажуулах' товч → DBK-XXXXX дугаар авна. 1 цагийн өмнө сануулга ирнэ.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197096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88536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4281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Захиалга харах / Цуцлах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7274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'Захиалга' табаас бүх захиалгаа харна. 'Хүлээгдэж буй' захиалгыг цуцлах боломжтой.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Апп-ын Гол Функцүүд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Хэрэглэгчид санал болгож буй бүрэн функцийн жагсаалт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Email OTP баталгаажуулалт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Бүртгэлийн үед Gmail SMTP-ээр 6 оронтой код. Алдаа → Firebase rollback.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04872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96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780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Хайлт ба шүүлтүүр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Нэр/төрөл/байршлаар хайх, үнэ эсвэл үнэлгээгээр эрэмбэлэх.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83864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5753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570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Олон цагийн захиалга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Зэрэгцэх цагуудыг дараалан дарж 2+ цагийн захиалга хийнэ.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62856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654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360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Гэрээт цагууд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00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Байгууллагуудын тогтмол захиалга нил ягаан өнгөөр харагдана.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41848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733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Захиалга цуцлах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99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'Хүлээгдэж буй' захиалгыг цуцлах боломжтой.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325880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🏟️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399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Бүтэн / Хагас талбай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Нэг цагт хоёр хагас талбай зэрэг захиалагдах боломжтой.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404872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496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4780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Локал сануулга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862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Захиалгаас 1 цагийн өмнө офлайн сануулга. FCM сервер шаардагдахгүй.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483864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5753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5570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AI туслагч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94106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Claude Haiku 4.5 үндсэн, Groq Llama 3.1-8b нөөц горим.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562856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654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6360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Профайл статистик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0200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Нийт болон хүлээгдэж буй захиалгын тоо профайлд харагдана.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641848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733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7150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Автомат статус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99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Cron ажил 15 минут тутам захиалгын статусыг автоматаар шинэчилнэ.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Техникийн Дэлгэрэнгүй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Системийн архитектур, технологийн стек, гүйцэтгэлийн хэмжилт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3 Давхаргат Архитектур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5486400" cy="822960"/>
          </a:xfrm>
          <a:prstGeom prst="rect">
            <a:avLst/>
          </a:prstGeom>
          <a:solidFill>
            <a:srgbClr val="F8F4EE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Клиент давхарга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Flutter мобайл апп (Android &amp; iOS)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700F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97480"/>
            <a:ext cx="5486400" cy="822960"/>
          </a:xfrm>
          <a:prstGeom prst="rect">
            <a:avLst/>
          </a:prstGeom>
          <a:solidFill>
            <a:srgbClr val="F8F4EE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Логикийн давхарга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363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Node.js/Express REST API (AWS EC2 Токио)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700F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5486400" cy="822960"/>
          </a:xfrm>
          <a:prstGeom prst="rect">
            <a:avLst/>
          </a:prstGeom>
          <a:solidFill>
            <a:srgbClr val="F8F4EE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Өгөгдлийн давхарга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Cloud Firestore (4 collection) + AWS ECR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208"/>
                </a:solidFill>
              </a:rPr>
              <a:t>Firestore (4 collection):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83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bookings  •  users  •  fixed_bookings  •  email_verifications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Гүйцэтгэлийн Хэмжилт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19072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Апп ачаалах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7647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2.3 сек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432304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478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237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Firestore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4780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0.6 сек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45536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191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369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EC2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1912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0.8 сек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58768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904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950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Claude Haiku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9044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1.4 сек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572000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Groq Llama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0.9 сек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285232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330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76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CI/CD 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3309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3–4 мин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6035040"/>
            <a:ext cx="5394960" cy="50292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6080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5C08"/>
                </a:solidFill>
              </a:rPr>
              <a:t>🔄  GitHub Actions: Push → Docker Build → ECR Push → EC2 Deploy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7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914400"/>
            <a:ext cx="9418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A1208"/>
                </a:solidFill>
              </a:rPr>
              <a:t>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4700F"/>
                </a:solidFill>
              </a:rPr>
              <a:t>Говийн Спорт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5B4B"/>
                </a:solidFill>
              </a:rPr>
              <a:t>Өмнөговь аймгийн Даланзадгад хотын спорт заалнуудын
цаг захиалгыг хялбарчилсан мобайл аппликейшн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Flutter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399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399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Firebase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415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415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Node.js/Express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1431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431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Docker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AWS EC2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463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463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GitHub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479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479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Claude Haiku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3495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495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Groq 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4903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208"/>
                </a:solidFill>
              </a:rPr>
              <a:t>Хэрэглэгчийн ДҮН: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605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9963"/>
                </a:solidFill>
              </a:rPr>
              <a:t>✅  10 функциональ тест бүгд тэнцсэн  •  ✅  Апп 2.3 сек ачаалдаг  •  ✅  Android &amp; iOS-д ажилладаг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84632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ШУТИС  •  Мэдээлэл технологийн сургууль  •  Тувшинжаргал М.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2348</Words>
  <Application>Microsoft Office PowerPoint</Application>
  <PresentationFormat>Custom</PresentationFormat>
  <Paragraphs>486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TUVSHINJARGAL MUNGUNKHUYAG</cp:lastModifiedBy>
  <cp:revision>2</cp:revision>
  <dcterms:created xsi:type="dcterms:W3CDTF">2013-01-27T09:14:16Z</dcterms:created>
  <dcterms:modified xsi:type="dcterms:W3CDTF">2026-04-03T01:50:10Z</dcterms:modified>
  <cp:category/>
</cp:coreProperties>
</file>