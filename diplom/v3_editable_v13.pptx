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6" r:id="rId5"/>
    <p:sldId id="277" r:id="rId6"/>
    <p:sldId id="279" r:id="rId7"/>
    <p:sldId id="259" r:id="rId8"/>
    <p:sldId id="278" r:id="rId9"/>
    <p:sldId id="260" r:id="rId10"/>
    <p:sldId id="262" r:id="rId11"/>
    <p:sldId id="264" r:id="rId12"/>
    <p:sldId id="281" r:id="rId13"/>
    <p:sldId id="266" r:id="rId14"/>
    <p:sldId id="267" r:id="rId15"/>
    <p:sldId id="268" r:id="rId16"/>
    <p:sldId id="269" r:id="rId17"/>
    <p:sldId id="280" r:id="rId18"/>
    <p:sldId id="271" r:id="rId19"/>
    <p:sldId id="270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FCC70-890D-9473-B449-555CACAD74F8}" v="744" dt="2026-04-28T03:05:30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ҮҮЛЭН ОРЧИНД СУУРИЛСАН СПОРТ ЗААЛНЫ</a:t>
            </a:r>
            <a:br>
              <a:rPr lang="en-US" sz="3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</a:br>
            <a:r>
              <a:rPr lang="en-US" sz="3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ЦАГ ЗАХИАЛГЫН 3 </a:t>
            </a:r>
            <a:r>
              <a:rPr lang="az-Cyrl-AZ" sz="3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ДАВХАРАТ</a:t>
            </a:r>
            <a:r>
              <a:rPr lang="en-US" sz="3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СИСТЕМИЙН</a:t>
            </a:r>
            <a:br>
              <a:rPr lang="en-US" sz="3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</a:br>
            <a:r>
              <a:rPr lang="en-US" sz="3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ЗАГВАРЧЛАЛ БА ХЭРЭГЖИЛТ</a:t>
            </a:r>
            <a:endParaRPr lang="en-US" sz="3000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Илтгэгч</a:t>
            </a:r>
            <a:r>
              <a:rPr lang="en-US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 М. </a:t>
            </a:r>
            <a:r>
              <a:rPr lang="en-US" sz="16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Түвшинжаргал</a:t>
            </a:r>
            <a:r>
              <a:rPr lang="en-US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(B221940619)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Удирдагч</a:t>
            </a:r>
            <a:r>
              <a:rPr lang="en-US" sz="16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16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Доктор</a:t>
            </a:r>
            <a:r>
              <a:rPr lang="en-US" sz="16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(</a:t>
            </a:r>
            <a:r>
              <a:rPr lang="en-US" sz="16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Ph.D</a:t>
            </a:r>
            <a:r>
              <a:rPr lang="en-US" sz="16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) </a:t>
            </a:r>
            <a:r>
              <a:rPr lang="en-US" sz="16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Д.Эрдэнэтуяа</a:t>
            </a:r>
            <a:endParaRPr lang="en-US" sz="1600" dirty="0" err="1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F0F7-055D-7AF5-827F-87EBD763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Агуулга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E95E-932E-84ED-6C8F-4BF1950F2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Үндэслэл</a:t>
            </a:r>
            <a:endParaRPr lang="en-US"/>
          </a:p>
          <a:p>
            <a:r>
              <a:rPr lang="en-US" dirty="0" err="1"/>
              <a:t>Бүлэг</a:t>
            </a:r>
            <a:r>
              <a:rPr lang="en-US" dirty="0"/>
              <a:t> 1. </a:t>
            </a:r>
            <a:r>
              <a:rPr lang="en-US" dirty="0" err="1"/>
              <a:t>Онол</a:t>
            </a:r>
          </a:p>
          <a:p>
            <a:r>
              <a:rPr lang="en-US" dirty="0" err="1"/>
              <a:t>Бүлэг</a:t>
            </a:r>
            <a:r>
              <a:rPr lang="en-US" dirty="0"/>
              <a:t> 2.  </a:t>
            </a:r>
            <a:r>
              <a:rPr lang="en-US" dirty="0" err="1"/>
              <a:t>Програм</a:t>
            </a:r>
            <a:r>
              <a:rPr lang="en-US" dirty="0"/>
              <a:t> </a:t>
            </a:r>
            <a:r>
              <a:rPr lang="en-US" dirty="0" err="1"/>
              <a:t>хангамжийн</a:t>
            </a:r>
            <a:r>
              <a:rPr lang="en-US" dirty="0"/>
              <a:t> </a:t>
            </a:r>
            <a:r>
              <a:rPr lang="en-US" dirty="0" err="1"/>
              <a:t>хөгжүүлэлт</a:t>
            </a:r>
            <a:endParaRPr lang="en-US"/>
          </a:p>
          <a:p>
            <a:r>
              <a:rPr lang="en-US" dirty="0" err="1"/>
              <a:t>Бүлэг</a:t>
            </a:r>
            <a:r>
              <a:rPr lang="en-US" dirty="0"/>
              <a:t> 3. </a:t>
            </a:r>
            <a:r>
              <a:rPr lang="en-US" dirty="0" err="1"/>
              <a:t>Үүлэн</a:t>
            </a:r>
            <a:r>
              <a:rPr lang="en-US" dirty="0"/>
              <a:t> </a:t>
            </a:r>
            <a:r>
              <a:rPr lang="en-US" dirty="0" err="1"/>
              <a:t>орчны</a:t>
            </a:r>
            <a:r>
              <a:rPr lang="en-US" dirty="0"/>
              <a:t> </a:t>
            </a:r>
            <a:r>
              <a:rPr lang="en-US" dirty="0" err="1"/>
              <a:t>хэрэгжүүлэлт</a:t>
            </a:r>
            <a:endParaRPr lang="en-US"/>
          </a:p>
          <a:p>
            <a:r>
              <a:rPr lang="en-US" dirty="0" err="1"/>
              <a:t>Дүгнэлт</a:t>
            </a:r>
          </a:p>
        </p:txBody>
      </p:sp>
    </p:spTree>
    <p:extLst>
      <p:ext uri="{BB962C8B-B14F-4D97-AF65-F5344CB8AC3E}">
        <p14:creationId xmlns:p14="http://schemas.microsoft.com/office/powerpoint/2010/main" val="72845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CAAE-0AFA-C5E7-29F9-835935B9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Үндэслэл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31E8-BDBC-F1F1-51EB-B6CBABA9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984"/>
            <a:ext cx="4146430" cy="445197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4400" dirty="0" err="1"/>
              <a:t>Асуудлууд</a:t>
            </a:r>
            <a:endParaRPr lang="en-US" sz="4400" dirty="0"/>
          </a:p>
          <a:p>
            <a:pPr marL="0" indent="0">
              <a:buNone/>
            </a:pPr>
            <a:r>
              <a:rPr lang="mn-MN" dirty="0"/>
              <a:t> Хэрэглэгчийн талаас</a:t>
            </a:r>
            <a:r>
              <a:rPr lang="en-US" dirty="0"/>
              <a:t>:</a:t>
            </a:r>
            <a:endParaRPr lang="mn-MN" dirty="0"/>
          </a:p>
          <a:p>
            <a:pPr marL="0" indent="0">
              <a:buNone/>
            </a:pPr>
            <a:endParaRPr lang="mn-MN" dirty="0"/>
          </a:p>
          <a:p>
            <a:pPr marL="0" indent="0">
              <a:buNone/>
            </a:pPr>
            <a:r>
              <a:rPr lang="mn-MN" dirty="0"/>
              <a:t>  - Биечлэн очих → цаг, зардал</a:t>
            </a:r>
          </a:p>
          <a:p>
            <a:pPr marL="0" indent="0">
              <a:buNone/>
            </a:pPr>
            <a:r>
              <a:rPr lang="mn-MN" dirty="0"/>
              <a:t>  - Бодит цагийн хуваарь харагдахгүй</a:t>
            </a:r>
          </a:p>
          <a:p>
            <a:pPr marL="0" indent="0">
              <a:buNone/>
            </a:pPr>
            <a:r>
              <a:rPr lang="mn-MN" dirty="0"/>
              <a:t>  </a:t>
            </a:r>
          </a:p>
          <a:p>
            <a:pPr marL="0" indent="0">
              <a:buNone/>
            </a:pPr>
            <a:r>
              <a:rPr lang="mn-MN" dirty="0"/>
              <a:t>  Заалны эзэмшигчийн талаас</a:t>
            </a:r>
            <a:r>
              <a:rPr lang="en-US" dirty="0"/>
              <a:t>:</a:t>
            </a:r>
            <a:endParaRPr lang="mn-MN" dirty="0"/>
          </a:p>
          <a:p>
            <a:pPr marL="0" indent="0">
              <a:buNone/>
            </a:pPr>
            <a:endParaRPr lang="mn-MN" dirty="0"/>
          </a:p>
          <a:p>
            <a:pPr marL="0" indent="0">
              <a:buNone/>
            </a:pPr>
            <a:r>
              <a:rPr lang="mn-MN" dirty="0"/>
              <a:t>  - Цаасан бүртгэл → алдаа, өгөгдөл алддаг</a:t>
            </a:r>
            <a:r>
              <a:rPr lang="en-US" dirty="0"/>
              <a:t>, </a:t>
            </a:r>
            <a:r>
              <a:rPr lang="mn-MN" dirty="0"/>
              <a:t>давхардал үүснэ</a:t>
            </a:r>
          </a:p>
          <a:p>
            <a:pPr marL="0" indent="0">
              <a:buNone/>
            </a:pPr>
            <a:r>
              <a:rPr lang="mn-MN" dirty="0"/>
              <a:t>  - Иргэн ирэхгүй → цаг хоосон</a:t>
            </a:r>
          </a:p>
          <a:p>
            <a:pPr marL="0" indent="0">
              <a:buNone/>
            </a:pPr>
            <a:r>
              <a:rPr lang="mn-MN" dirty="0"/>
              <a:t> 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B54AC-EF9B-46DE-F81C-F197C266DE3D}"/>
              </a:ext>
            </a:extLst>
          </p:cNvPr>
          <p:cNvSpPr txBox="1"/>
          <p:nvPr/>
        </p:nvSpPr>
        <p:spPr>
          <a:xfrm>
            <a:off x="5693434" y="1703717"/>
            <a:ext cx="6096000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Шийдэл</a:t>
            </a:r>
            <a:endParaRPr lang="en-US" sz="28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err="1">
                <a:cs typeface="Arial"/>
              </a:rPr>
              <a:t>Мобайл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аппликейшн</a:t>
            </a:r>
            <a:r>
              <a:rPr lang="en-US" sz="2800" dirty="0">
                <a:cs typeface="Arial"/>
              </a:rPr>
              <a:t> 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dirty="0">
                <a:cs typeface="Arial"/>
              </a:rPr>
              <a:t>3 </a:t>
            </a:r>
            <a:r>
              <a:rPr lang="en-US" sz="2800" dirty="0" err="1">
                <a:cs typeface="Arial"/>
              </a:rPr>
              <a:t>давхаргат</a:t>
            </a:r>
            <a:r>
              <a:rPr lang="en-US" sz="2800" dirty="0">
                <a:cs typeface="Arial"/>
              </a:rPr>
              <a:t> </a:t>
            </a:r>
            <a:r>
              <a:rPr lang="en-US" sz="2800" dirty="0" err="1">
                <a:cs typeface="Arial"/>
              </a:rPr>
              <a:t>архитек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dirty="0" err="1">
                <a:cs typeface="Arial"/>
              </a:rPr>
              <a:t>Үүлэн</a:t>
            </a:r>
            <a:r>
              <a:rPr lang="en-US" sz="2800" dirty="0">
                <a:cs typeface="Arial"/>
              </a:rPr>
              <a:t> </a:t>
            </a:r>
            <a:r>
              <a:rPr lang="en-US" sz="2800" dirty="0" err="1">
                <a:cs typeface="Arial"/>
              </a:rPr>
              <a:t>системд</a:t>
            </a:r>
            <a:r>
              <a:rPr lang="en-US" sz="2800" dirty="0">
                <a:cs typeface="Arial"/>
              </a:rPr>
              <a:t> </a:t>
            </a:r>
            <a:r>
              <a:rPr lang="en-US" sz="2800" dirty="0" err="1">
                <a:cs typeface="Arial"/>
              </a:rPr>
              <a:t>суурилсан</a:t>
            </a:r>
            <a:endParaRPr lang="en-US" sz="2800" dirty="0">
              <a:cs typeface="Arial"/>
            </a:endParaRPr>
          </a:p>
          <a:p>
            <a:pPr marL="914400" lvl="1" indent="-457200">
              <a:buFont typeface="Courier New"/>
              <a:buChar char="o"/>
            </a:pPr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pPr algn="ctr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448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5D08-5D7C-7491-E563-DE6C9D82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68"/>
                </a:solidFill>
              </a:rPr>
              <a:t>Судалгааны асуудал ба шийдэл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000" y="1700000"/>
            <a:ext cx="5200000" cy="5500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0000" y="1700000"/>
            <a:ext cx="52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Тулгамдаж буй асуудлууд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0000" y="2370000"/>
            <a:ext cx="5200000" cy="39000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80000" y="2640000"/>
            <a:ext cx="110000" cy="11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252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Утсаар захиалахад шугам завгүй</a:t>
            </a:r>
          </a:p>
        </p:txBody>
      </p:sp>
      <p:sp>
        <p:nvSpPr>
          <p:cNvPr id="8" name="Oval 7"/>
          <p:cNvSpPr/>
          <p:nvPr/>
        </p:nvSpPr>
        <p:spPr>
          <a:xfrm>
            <a:off x="480000" y="3060000"/>
            <a:ext cx="110000" cy="11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000" y="294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Биечлэн очих → цаг, зардал</a:t>
            </a:r>
          </a:p>
        </p:txBody>
      </p:sp>
      <p:sp>
        <p:nvSpPr>
          <p:cNvPr id="10" name="Oval 9"/>
          <p:cNvSpPr/>
          <p:nvPr/>
        </p:nvSpPr>
        <p:spPr>
          <a:xfrm>
            <a:off x="480000" y="3480000"/>
            <a:ext cx="110000" cy="11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336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Бодит цагийн хуваарь байхгүй</a:t>
            </a:r>
          </a:p>
        </p:txBody>
      </p:sp>
      <p:sp>
        <p:nvSpPr>
          <p:cNvPr id="12" name="Oval 11"/>
          <p:cNvSpPr/>
          <p:nvPr/>
        </p:nvSpPr>
        <p:spPr>
          <a:xfrm>
            <a:off x="480000" y="3900000"/>
            <a:ext cx="110000" cy="11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378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Цуцлах, сануулга байхгүй</a:t>
            </a:r>
          </a:p>
        </p:txBody>
      </p:sp>
      <p:sp>
        <p:nvSpPr>
          <p:cNvPr id="14" name="Oval 13"/>
          <p:cNvSpPr/>
          <p:nvPr/>
        </p:nvSpPr>
        <p:spPr>
          <a:xfrm>
            <a:off x="480000" y="4320000"/>
            <a:ext cx="110000" cy="11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000" y="420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Цаасан бүртгэл → алдаа, өгөгдөл алдагдах</a:t>
            </a:r>
          </a:p>
        </p:txBody>
      </p:sp>
      <p:sp>
        <p:nvSpPr>
          <p:cNvPr id="16" name="Oval 15"/>
          <p:cNvSpPr/>
          <p:nvPr/>
        </p:nvSpPr>
        <p:spPr>
          <a:xfrm>
            <a:off x="480000" y="4740000"/>
            <a:ext cx="110000" cy="11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000" y="462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No-show, тогтмол захиалга ялгахад хүндрэл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2000" y="1700000"/>
            <a:ext cx="5200000" cy="550000"/>
          </a:xfrm>
          <a:prstGeom prst="roundRect">
            <a:avLst>
              <a:gd name="adj" fmla="val 10000"/>
            </a:avLst>
          </a:prstGeom>
          <a:solidFill>
            <a:srgbClr val="1E884F"/>
          </a:solidFill>
          <a:ln w="1270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2000" y="1700000"/>
            <a:ext cx="52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Системийн шийдэл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2000" y="2370000"/>
            <a:ext cx="5200000" cy="390000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72000" y="2640000"/>
            <a:ext cx="110000" cy="11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92000" y="252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Flutter мобайл аппликейшн (iOS / Android)</a:t>
            </a:r>
          </a:p>
        </p:txBody>
      </p:sp>
      <p:sp>
        <p:nvSpPr>
          <p:cNvPr id="23" name="Oval 22"/>
          <p:cNvSpPr/>
          <p:nvPr/>
        </p:nvSpPr>
        <p:spPr>
          <a:xfrm>
            <a:off x="6872000" y="3060000"/>
            <a:ext cx="110000" cy="11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92000" y="294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Firestore real-time цагийн хуваарь</a:t>
            </a:r>
          </a:p>
        </p:txBody>
      </p:sp>
      <p:sp>
        <p:nvSpPr>
          <p:cNvPr id="25" name="Oval 24"/>
          <p:cNvSpPr/>
          <p:nvPr/>
        </p:nvSpPr>
        <p:spPr>
          <a:xfrm>
            <a:off x="6872000" y="3480000"/>
            <a:ext cx="110000" cy="11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92000" y="336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DBK-xxxxx захиалгын баталгаажуулалт</a:t>
            </a:r>
          </a:p>
        </p:txBody>
      </p:sp>
      <p:sp>
        <p:nvSpPr>
          <p:cNvPr id="27" name="Oval 26"/>
          <p:cNvSpPr/>
          <p:nvPr/>
        </p:nvSpPr>
        <p:spPr>
          <a:xfrm>
            <a:off x="6872000" y="3900000"/>
            <a:ext cx="110000" cy="11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92000" y="378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Локал мэдэгдэл (1 цагийн өмнө)</a:t>
            </a:r>
          </a:p>
        </p:txBody>
      </p:sp>
      <p:sp>
        <p:nvSpPr>
          <p:cNvPr id="29" name="Oval 28"/>
          <p:cNvSpPr/>
          <p:nvPr/>
        </p:nvSpPr>
        <p:spPr>
          <a:xfrm>
            <a:off x="6872000" y="4320000"/>
            <a:ext cx="110000" cy="11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92000" y="420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Cloud Firestore — найдвартай хадгалалт</a:t>
            </a:r>
          </a:p>
        </p:txBody>
      </p:sp>
      <p:sp>
        <p:nvSpPr>
          <p:cNvPr id="31" name="Oval 30"/>
          <p:cNvSpPr/>
          <p:nvPr/>
        </p:nvSpPr>
        <p:spPr>
          <a:xfrm>
            <a:off x="6872000" y="4740000"/>
            <a:ext cx="110000" cy="11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92000" y="4620000"/>
            <a:ext cx="4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1F3A"/>
                </a:solidFill>
                <a:latin typeface="Calibri"/>
              </a:rPr>
              <a:t>fixed_bookings + AI чатбот туслах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646000" y="4070000"/>
            <a:ext cx="900000" cy="500000"/>
          </a:xfrm>
          <a:prstGeom prst="rightArrow">
            <a:avLst/>
          </a:prstGeom>
          <a:solidFill>
            <a:srgbClr val="1F3A68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46000" y="362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F3A68"/>
                </a:solidFill>
                <a:latin typeface="Calibri"/>
              </a:rPr>
              <a:t>ШИЙДЭХ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0000" y="6520000"/>
            <a:ext cx="3730666" cy="6000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0000" y="6520000"/>
            <a:ext cx="3730666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Calibri"/>
              </a:rPr>
              <a:t>Мобайл аппликейшн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30666" y="6520000"/>
            <a:ext cx="3730666" cy="6000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30666" y="6520000"/>
            <a:ext cx="3730666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Calibri"/>
              </a:rPr>
              <a:t>3 давхаргат архитектур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1332" y="6520000"/>
            <a:ext cx="3730666" cy="6000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61332" y="6520000"/>
            <a:ext cx="3730666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884F"/>
                </a:solidFill>
                <a:latin typeface="Calibri"/>
              </a:rPr>
              <a:t>Үүлэн дэд бүтэц (AWS)</a:t>
            </a:r>
          </a:p>
        </p:txBody>
      </p:sp>
    </p:spTree>
    <p:extLst>
      <p:ext uri="{BB962C8B-B14F-4D97-AF65-F5344CB8AC3E}">
        <p14:creationId xmlns:p14="http://schemas.microsoft.com/office/powerpoint/2010/main" val="69035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1" y="446"/>
            <a:ext cx="12187365" cy="6948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2381" y="446"/>
            <a:ext cx="109714" cy="69485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2" y="64446"/>
            <a:ext cx="548569" cy="548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6948" y="119303"/>
            <a:ext cx="11154228" cy="40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A5C"/>
                </a:solidFill>
              </a:rPr>
              <a:t>Зорилго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1" y="6510127"/>
            <a:ext cx="12187365" cy="347427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7" name="TextBox 6"/>
          <p:cNvSpPr txBox="1"/>
          <p:nvPr/>
        </p:nvSpPr>
        <p:spPr>
          <a:xfrm>
            <a:off x="185238" y="6528412"/>
            <a:ext cx="4571405" cy="261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F5C518"/>
                </a:solidFill>
              </a:rPr>
              <a:t>Улаанбаатар</a:t>
            </a:r>
            <a:r>
              <a:rPr sz="1100" dirty="0">
                <a:solidFill>
                  <a:srgbClr val="F5C518"/>
                </a:solidFill>
              </a:rPr>
              <a:t> </a:t>
            </a:r>
            <a:r>
              <a:rPr sz="1100" dirty="0" err="1">
                <a:solidFill>
                  <a:srgbClr val="F5C518"/>
                </a:solidFill>
              </a:rPr>
              <a:t>хот</a:t>
            </a:r>
            <a:r>
              <a:rPr sz="1100">
                <a:solidFill>
                  <a:srgbClr val="F5C518"/>
                </a:solidFill>
              </a:rPr>
              <a:t>, 202</a:t>
            </a:r>
            <a:r>
              <a:rPr lang="en-US" sz="1100">
                <a:solidFill>
                  <a:srgbClr val="F5C518"/>
                </a:solidFill>
              </a:rPr>
              <a:t>6</a:t>
            </a:r>
            <a:r>
              <a:rPr sz="1100">
                <a:solidFill>
                  <a:srgbClr val="F5C518"/>
                </a:solidFill>
              </a:rPr>
              <a:t> </a:t>
            </a:r>
            <a:r>
              <a:rPr sz="1100" dirty="0" err="1">
                <a:solidFill>
                  <a:srgbClr val="F5C518"/>
                </a:solidFill>
              </a:rPr>
              <a:t>он</a:t>
            </a:r>
            <a:endParaRPr sz="1100" dirty="0">
              <a:solidFill>
                <a:srgbClr val="F5C51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81" y="695300"/>
            <a:ext cx="12187365" cy="58148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459522" y="805014"/>
            <a:ext cx="11245656" cy="52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5C"/>
                </a:solidFill>
              </a:rPr>
              <a:t>Даланзадгад хотын спортын заалны захиалгыг хялбар, хурдан, найдвартай болгох мобайл аппликейшн хөгжүүлж, хэрэглэгч болон заалны эздэд ашиглуулах.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8094" y="1737580"/>
            <a:ext cx="3657124" cy="1965704"/>
          </a:xfrm>
          <a:prstGeom prst="rect">
            <a:avLst/>
          </a:prstGeom>
          <a:solidFill>
            <a:srgbClr val="F4F4F4"/>
          </a:solidFill>
          <a:ln w="1905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1" name="TextBox 10"/>
          <p:cNvSpPr txBox="1"/>
          <p:nvPr/>
        </p:nvSpPr>
        <p:spPr>
          <a:xfrm>
            <a:off x="532664" y="1865581"/>
            <a:ext cx="3382840" cy="30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0A1A5C"/>
                </a:solidFill>
              </a:rPr>
              <a:t>Аюулгүй</a:t>
            </a:r>
            <a:r>
              <a:rPr sz="1400" b="1" dirty="0">
                <a:solidFill>
                  <a:srgbClr val="0A1A5C"/>
                </a:solidFill>
              </a:rPr>
              <a:t>, </a:t>
            </a:r>
            <a:r>
              <a:rPr sz="1400" b="1" dirty="0" err="1">
                <a:solidFill>
                  <a:srgbClr val="0A1A5C"/>
                </a:solidFill>
              </a:rPr>
              <a:t>хялбар</a:t>
            </a:r>
            <a:r>
              <a:rPr sz="1400" b="1" dirty="0">
                <a:solidFill>
                  <a:srgbClr val="0A1A5C"/>
                </a:solidFill>
              </a:rPr>
              <a:t> </a:t>
            </a:r>
            <a:r>
              <a:rPr sz="1400" b="1" dirty="0" err="1">
                <a:solidFill>
                  <a:srgbClr val="0A1A5C"/>
                </a:solidFill>
              </a:rPr>
              <a:t>захиалга</a:t>
            </a:r>
            <a:endParaRPr sz="1400" b="1" dirty="0">
              <a:solidFill>
                <a:srgbClr val="0A1A5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2664" y="2304436"/>
            <a:ext cx="3382840" cy="430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</a:rPr>
              <a:t>Хэрэглэгч хэдхэн товшилтоор спортын заал захиалах боломжтой болгох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9502" y="1737580"/>
            <a:ext cx="3657124" cy="1965704"/>
          </a:xfrm>
          <a:prstGeom prst="rect">
            <a:avLst/>
          </a:prstGeom>
          <a:solidFill>
            <a:srgbClr val="F4F4F4"/>
          </a:solidFill>
          <a:ln w="1905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" name="TextBox 13"/>
          <p:cNvSpPr txBox="1"/>
          <p:nvPr/>
        </p:nvSpPr>
        <p:spPr>
          <a:xfrm>
            <a:off x="4464072" y="1865581"/>
            <a:ext cx="3382840" cy="30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5C"/>
                </a:solidFill>
              </a:rPr>
              <a:t>Мобайл аппликейшн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4072" y="2304436"/>
            <a:ext cx="3382840" cy="430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</a:rPr>
              <a:t>Flutter ашиглан iOS болон Android-д ажилладаг хэрэглэх боломжтой апп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0910" y="1737580"/>
            <a:ext cx="3657124" cy="1965704"/>
          </a:xfrm>
          <a:prstGeom prst="rect">
            <a:avLst/>
          </a:prstGeom>
          <a:solidFill>
            <a:srgbClr val="F4F4F4"/>
          </a:solidFill>
          <a:ln w="1905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7" name="TextBox 16"/>
          <p:cNvSpPr txBox="1"/>
          <p:nvPr/>
        </p:nvSpPr>
        <p:spPr>
          <a:xfrm>
            <a:off x="8395480" y="1865581"/>
            <a:ext cx="3382840" cy="30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5C"/>
                </a:solidFill>
              </a:rPr>
              <a:t>AI Chat туслах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5480" y="2304436"/>
            <a:ext cx="3382840" cy="430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</a:rPr>
              <a:t>Groq / LLaMA загвар ашиглан хэрэглэгчид лавлагаа өгөх AI туслах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8094" y="3886141"/>
            <a:ext cx="3657124" cy="1965704"/>
          </a:xfrm>
          <a:prstGeom prst="rect">
            <a:avLst/>
          </a:prstGeom>
          <a:solidFill>
            <a:srgbClr val="F4F4F4"/>
          </a:solidFill>
          <a:ln w="1905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0" name="TextBox 19"/>
          <p:cNvSpPr txBox="1"/>
          <p:nvPr/>
        </p:nvSpPr>
        <p:spPr>
          <a:xfrm>
            <a:off x="532664" y="4014141"/>
            <a:ext cx="3382840" cy="30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5C"/>
                </a:solidFill>
              </a:rPr>
              <a:t>Бодит цагийн мэдээлэл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664" y="4452996"/>
            <a:ext cx="3382840" cy="430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</a:rPr>
              <a:t>Firebase Firestore ашиглан захиалгын статусыг бодит цагаар харуулах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9502" y="3886141"/>
            <a:ext cx="3657124" cy="1965704"/>
          </a:xfrm>
          <a:prstGeom prst="rect">
            <a:avLst/>
          </a:prstGeom>
          <a:solidFill>
            <a:srgbClr val="F4F4F4"/>
          </a:solidFill>
          <a:ln w="1905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3" name="TextBox 22"/>
          <p:cNvSpPr txBox="1"/>
          <p:nvPr/>
        </p:nvSpPr>
        <p:spPr>
          <a:xfrm>
            <a:off x="4464072" y="4014141"/>
            <a:ext cx="3382840" cy="30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5C"/>
                </a:solidFill>
              </a:rPr>
              <a:t>Мэдэгдэл систем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4072" y="4452996"/>
            <a:ext cx="3382840" cy="430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</a:rPr>
              <a:t>flutter_local_notifications ашиглан локал мэдэгдэл илгээх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0910" y="3886141"/>
            <a:ext cx="3657124" cy="1965704"/>
          </a:xfrm>
          <a:prstGeom prst="rect">
            <a:avLst/>
          </a:prstGeom>
          <a:solidFill>
            <a:srgbClr val="F4F4F4"/>
          </a:solidFill>
          <a:ln w="1905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6" name="TextBox 25"/>
          <p:cNvSpPr txBox="1"/>
          <p:nvPr/>
        </p:nvSpPr>
        <p:spPr>
          <a:xfrm>
            <a:off x="8395480" y="4014141"/>
            <a:ext cx="3382840" cy="307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0A1A5C"/>
                </a:solidFill>
              </a:rPr>
              <a:t>Хагас</a:t>
            </a:r>
            <a:r>
              <a:rPr sz="1400" b="1" dirty="0">
                <a:solidFill>
                  <a:srgbClr val="0A1A5C"/>
                </a:solidFill>
              </a:rPr>
              <a:t> / </a:t>
            </a:r>
            <a:r>
              <a:rPr sz="1400" b="1" dirty="0" err="1">
                <a:solidFill>
                  <a:srgbClr val="0A1A5C"/>
                </a:solidFill>
              </a:rPr>
              <a:t>бүтэн</a:t>
            </a:r>
            <a:r>
              <a:rPr sz="1400" b="1" dirty="0">
                <a:solidFill>
                  <a:srgbClr val="0A1A5C"/>
                </a:solidFill>
              </a:rPr>
              <a:t> </a:t>
            </a:r>
            <a:r>
              <a:rPr sz="1400" b="1" dirty="0" err="1">
                <a:solidFill>
                  <a:srgbClr val="0A1A5C"/>
                </a:solidFill>
              </a:rPr>
              <a:t>талбай</a:t>
            </a:r>
            <a:endParaRPr sz="1400" b="1" dirty="0">
              <a:solidFill>
                <a:srgbClr val="0A1A5C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95480" y="4452996"/>
            <a:ext cx="3382840" cy="430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</a:rPr>
              <a:t>Нэг цагийн слотод хоёр хагас талбайн захиалга зэрэг хийх боломж</a:t>
            </a:r>
          </a:p>
        </p:txBody>
      </p:sp>
      <p:sp>
        <p:nvSpPr>
          <p:cNvPr id="28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73341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7EEA-AC43-8120-BD07-C5B83DBE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A464B-D52F-9D2C-A1B0-98E8CF8C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1F3A68"/>
                </a:solidFill>
              </a:rPr>
              <a:t>3 давхаргат архитектурын онол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96000" y="1700000"/>
            <a:ext cx="8400000" cy="1300000"/>
          </a:xfrm>
          <a:prstGeom prst="roundRect">
            <a:avLst>
              <a:gd name="adj" fmla="val 8000"/>
            </a:avLst>
          </a:prstGeom>
          <a:solidFill>
            <a:srgbClr val="E3EAF6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96000" y="1780000"/>
            <a:ext cx="160000" cy="1140000"/>
          </a:xfrm>
          <a:prstGeom prst="rect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06000" y="1850000"/>
            <a:ext cx="24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F3A68"/>
                </a:solidFill>
                <a:latin typeface="Calibri"/>
              </a:rPr>
              <a:t>TIER 1 —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6000" y="2250000"/>
            <a:ext cx="7790000" cy="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Flutter Мобайл клиент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6000" y="3450000"/>
            <a:ext cx="8400000" cy="130000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19050">
            <a:solidFill>
              <a:srgbClr val="C2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96000" y="3530000"/>
            <a:ext cx="160000" cy="1140000"/>
          </a:xfrm>
          <a:prstGeom prst="rect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6000" y="3600000"/>
            <a:ext cx="24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6A12"/>
                </a:solidFill>
                <a:latin typeface="Calibri"/>
              </a:rPr>
              <a:t>TIER 2 —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6000" y="4000000"/>
            <a:ext cx="7790000" cy="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26A12"/>
                </a:solidFill>
                <a:latin typeface="Calibri"/>
              </a:rPr>
              <a:t>Node.js / Express REST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96000" y="5200000"/>
            <a:ext cx="8400000" cy="1300000"/>
          </a:xfrm>
          <a:prstGeom prst="roundRect">
            <a:avLst>
              <a:gd name="adj" fmla="val 8000"/>
            </a:avLst>
          </a:prstGeom>
          <a:solidFill>
            <a:srgbClr val="E7F5EC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96000" y="5280000"/>
            <a:ext cx="160000" cy="1140000"/>
          </a:xfrm>
          <a:prstGeom prst="rect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6000" y="5350000"/>
            <a:ext cx="24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884F"/>
                </a:solidFill>
                <a:latin typeface="Calibri"/>
              </a:rPr>
              <a:t>TIER 3 —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6000" y="5750000"/>
            <a:ext cx="7790000" cy="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884F"/>
                </a:solidFill>
                <a:latin typeface="Calibri"/>
              </a:rPr>
              <a:t>Firebase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486000" y="3030000"/>
            <a:ext cx="420000" cy="390000"/>
          </a:xfrm>
          <a:prstGeom prst="downArrow">
            <a:avLst/>
          </a:prstGeom>
          <a:solidFill>
            <a:srgbClr val="1F3A68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3486000" y="4780000"/>
            <a:ext cx="420000" cy="390000"/>
          </a:xfrm>
          <a:prstGeom prst="downArrow">
            <a:avLst/>
          </a:prstGeom>
          <a:solidFill>
            <a:srgbClr val="1F3A68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000" y="2242278"/>
            <a:ext cx="12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1400" b="1" i="1" dirty="0">
                <a:solidFill>
                  <a:srgbClr val="1F3A68"/>
                </a:solidFill>
                <a:latin typeface="Calibri"/>
              </a:rPr>
              <a:t>Client</a:t>
            </a:r>
            <a:endParaRPr sz="1400" b="1" i="1" dirty="0">
              <a:solidFill>
                <a:srgbClr val="1F3A6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6000" y="3992278"/>
            <a:ext cx="12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1400" b="1" i="1" dirty="0">
                <a:solidFill>
                  <a:srgbClr val="C26A12"/>
                </a:solidFill>
                <a:latin typeface="Calibri"/>
              </a:rPr>
              <a:t>Business logic</a:t>
            </a:r>
            <a:endParaRPr sz="1400" b="1" i="1" dirty="0">
              <a:solidFill>
                <a:srgbClr val="C26A12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000" y="5742278"/>
            <a:ext cx="12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1400" b="1" i="1" dirty="0">
                <a:solidFill>
                  <a:srgbClr val="1E884F"/>
                </a:solidFill>
                <a:latin typeface="Calibri"/>
              </a:rPr>
              <a:t>Database</a:t>
            </a:r>
            <a:endParaRPr sz="1400" b="1" i="1" dirty="0">
              <a:solidFill>
                <a:srgbClr val="1E884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959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0B10-2DC2-DCD6-3BFD-D6ACA4C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74016" cy="462922"/>
          </a:xfrm>
        </p:spPr>
        <p:txBody>
          <a:bodyPr>
            <a:normAutofit fontScale="90000"/>
          </a:bodyPr>
          <a:lstStyle/>
          <a:p>
            <a:r>
              <a:rPr lang="en-US"/>
              <a:t>3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B2340D-776C-01D9-2393-68CF767DC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68" y="1198440"/>
            <a:ext cx="12125864" cy="480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3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34959-CBAC-D781-5FE5-2CBA5AFE7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50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0000" y="1400000"/>
            <a:ext cx="2900000" cy="2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1050000"/>
            <a:ext cx="29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" y="4300000"/>
            <a:ext cx="29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FD8EC"/>
                </a:solidFill>
                <a:latin typeface="Calibri"/>
              </a:rPr>
              <a:t>M.Tүвшинжаргал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0" y="1200000"/>
            <a:ext cx="74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26A12"/>
                </a:solidFill>
                <a:latin typeface="Calibri"/>
              </a:rPr>
              <a:t>БҮЛЭГ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1750000"/>
            <a:ext cx="7492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F3A68"/>
                </a:solidFill>
                <a:latin typeface="Calibri"/>
              </a:rPr>
              <a:t>Програм хангамжийн
хөгжүүлэлт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0000" y="3400000"/>
            <a:ext cx="900000" cy="70000"/>
          </a:xfrm>
          <a:prstGeom prst="rect">
            <a:avLst/>
          </a:prstGeom>
          <a:solidFill>
            <a:srgbClr val="C26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40000" y="3740000"/>
            <a:ext cx="1670000" cy="8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95000" y="3920000"/>
            <a:ext cx="360000" cy="36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68"/>
                </a:solidFill>
                <a:latin typeface="Calibri"/>
              </a:rPr>
              <a:t>Шаардлага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Use Case ·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C2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0000" y="3740000"/>
            <a:ext cx="1670000" cy="80000"/>
          </a:xfrm>
          <a:prstGeom prst="rect">
            <a:avLst/>
          </a:prstGeom>
          <a:solidFill>
            <a:srgbClr val="C26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95000" y="3920000"/>
            <a:ext cx="360000" cy="360000"/>
          </a:xfrm>
          <a:prstGeom prst="ellipse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26A12"/>
                </a:solidFill>
                <a:latin typeface="Calibri"/>
              </a:rPr>
              <a:t>Загварчлал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Sequence · UML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0000" y="3740000"/>
            <a:ext cx="1670000" cy="80000"/>
          </a:xfrm>
          <a:prstGeom prst="rect">
            <a:avLst/>
          </a:prstGeom>
          <a:solidFill>
            <a:srgbClr val="1E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95000" y="3920000"/>
            <a:ext cx="360000" cy="3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884F"/>
                </a:solidFill>
                <a:latin typeface="Calibri"/>
              </a:rPr>
              <a:t>UI / 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Flutter дэлгэцүүд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40000" y="3740000"/>
            <a:ext cx="1670000" cy="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595000" y="3920000"/>
            <a:ext cx="360000" cy="36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Өгөгдөл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Firestore схем</a:t>
            </a:r>
          </a:p>
        </p:txBody>
      </p:sp>
    </p:spTree>
    <p:extLst>
      <p:ext uri="{BB962C8B-B14F-4D97-AF65-F5344CB8AC3E}">
        <p14:creationId xmlns:p14="http://schemas.microsoft.com/office/powerpoint/2010/main" val="2333319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55EC-C6C7-1551-A03A-6456D622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diag_usecase.png">
            <a:extLst>
              <a:ext uri="{FF2B5EF4-FFF2-40B4-BE49-F238E27FC236}">
                <a16:creationId xmlns:a16="http://schemas.microsoft.com/office/drawing/2014/main" id="{25AE6C5F-A6C2-129A-A485-B8BD91F1A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2223" y="1825625"/>
            <a:ext cx="8867554" cy="4351338"/>
          </a:xfrm>
          <a:prstGeom prst="rect">
            <a:avLst/>
          </a:prstGeom>
        </p:spPr>
      </p:pic>
      <p:pic>
        <p:nvPicPr>
          <p:cNvPr id="5" name="Picture 4" descr="diag_usecase.png">
            <a:extLst>
              <a:ext uri="{FF2B5EF4-FFF2-40B4-BE49-F238E27FC236}">
                <a16:creationId xmlns:a16="http://schemas.microsoft.com/office/drawing/2014/main" id="{4F0A5B23-8AE8-CA73-C62C-0F0264635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78242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3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4ED1-7BCF-A258-489D-B8D64586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250000"/>
            <a:ext cx="11192000" cy="7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C26A12"/>
                </a:solidFill>
                <a:latin typeface="Calibri"/>
              </a:rPr>
              <a:t>Бүлэг 2.1: </a:t>
            </a:r>
            <a:r>
              <a:rPr sz="2800" b="1">
                <a:solidFill>
                  <a:srgbClr val="1F3A68"/>
                </a:solidFill>
                <a:latin typeface="Calibri"/>
              </a:rPr>
              <a:t>Цаг захиалах Activity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92000" y="350000"/>
            <a:ext cx="1900000" cy="450000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100" b="1">
                <a:solidFill>
                  <a:srgbClr val="1F3A68"/>
                </a:solidFill>
                <a:latin typeface="Calibri"/>
              </a:rPr>
              <a:t>UML Activity</a:t>
            </a:r>
          </a:p>
        </p:txBody>
      </p:sp>
      <p:sp>
        <p:nvSpPr>
          <p:cNvPr id="4" name="Oval 3"/>
          <p:cNvSpPr/>
          <p:nvPr/>
        </p:nvSpPr>
        <p:spPr>
          <a:xfrm>
            <a:off x="4560000" y="1060000"/>
            <a:ext cx="280000" cy="280000"/>
          </a:xfrm>
          <a:prstGeom prst="ellipse">
            <a:avLst/>
          </a:prstGeom>
          <a:solidFill>
            <a:srgbClr val="1B1F3A"/>
          </a:solidFill>
          <a:ln w="6350">
            <a:solidFill>
              <a:srgbClr val="1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00000" y="1520000"/>
            <a:ext cx="3400000" cy="550000"/>
          </a:xfrm>
          <a:prstGeom prst="roundRect">
            <a:avLst>
              <a:gd name="adj" fmla="val 18000"/>
            </a:avLst>
          </a:prstGeom>
          <a:solidFill>
            <a:srgbClr val="FAFAFA"/>
          </a:solidFill>
          <a:ln w="158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0">
                <a:solidFill>
                  <a:srgbClr val="1B1F3A"/>
                </a:solidFill>
                <a:latin typeface="Calibri"/>
              </a:rPr>
              <a:t>Email/нууц үгээр нэвтрэх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0000" y="2250000"/>
            <a:ext cx="3400000" cy="550000"/>
          </a:xfrm>
          <a:prstGeom prst="roundRect">
            <a:avLst>
              <a:gd name="adj" fmla="val 18000"/>
            </a:avLst>
          </a:prstGeom>
          <a:solidFill>
            <a:srgbClr val="FAFAFA"/>
          </a:solidFill>
          <a:ln w="158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0">
                <a:solidFill>
                  <a:srgbClr val="1B1F3A"/>
                </a:solidFill>
                <a:latin typeface="Calibri"/>
              </a:rPr>
              <a:t>Огноо сонгох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0" y="2980000"/>
            <a:ext cx="3400000" cy="550000"/>
          </a:xfrm>
          <a:prstGeom prst="roundRect">
            <a:avLst>
              <a:gd name="adj" fmla="val 18000"/>
            </a:avLst>
          </a:prstGeom>
          <a:solidFill>
            <a:srgbClr val="FAFAFA"/>
          </a:solidFill>
          <a:ln w="158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0">
                <a:solidFill>
                  <a:srgbClr val="1B1F3A"/>
                </a:solidFill>
                <a:latin typeface="Calibri"/>
              </a:rPr>
              <a:t>Цагийн үе сонгох</a:t>
            </a:r>
          </a:p>
        </p:txBody>
      </p:sp>
      <p:sp>
        <p:nvSpPr>
          <p:cNvPr id="8" name="Diamond 7"/>
          <p:cNvSpPr/>
          <p:nvPr/>
        </p:nvSpPr>
        <p:spPr>
          <a:xfrm>
            <a:off x="3750000" y="3615000"/>
            <a:ext cx="1900000" cy="900000"/>
          </a:xfrm>
          <a:prstGeom prst="diamond">
            <a:avLst/>
          </a:prstGeom>
          <a:solidFill>
            <a:srgbClr val="FFF8E1"/>
          </a:solidFill>
          <a:ln w="15875">
            <a:solidFill>
              <a:srgbClr val="B7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100" b="1">
                <a:solidFill>
                  <a:srgbClr val="1B1F3A"/>
                </a:solidFill>
                <a:latin typeface="Calibri"/>
              </a:rPr>
              <a:t>Цаг боломжтой?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0" y="4590000"/>
            <a:ext cx="3400000" cy="550000"/>
          </a:xfrm>
          <a:prstGeom prst="roundRect">
            <a:avLst>
              <a:gd name="adj" fmla="val 18000"/>
            </a:avLst>
          </a:prstGeom>
          <a:solidFill>
            <a:srgbClr val="FAFAFA"/>
          </a:solidFill>
          <a:ln w="15875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0">
                <a:solidFill>
                  <a:srgbClr val="1B1F3A"/>
                </a:solidFill>
                <a:latin typeface="Calibri"/>
              </a:rPr>
              <a:t>Захиалга үүсгэх (Firestore)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0" y="5320000"/>
            <a:ext cx="3400000" cy="550000"/>
          </a:xfrm>
          <a:prstGeom prst="roundRect">
            <a:avLst>
              <a:gd name="adj" fmla="val 18000"/>
            </a:avLst>
          </a:prstGeom>
          <a:solidFill>
            <a:srgbClr val="FAFAFA"/>
          </a:solidFill>
          <a:ln w="158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0">
                <a:solidFill>
                  <a:srgbClr val="1B1F3A"/>
                </a:solidFill>
                <a:latin typeface="Calibri"/>
              </a:rPr>
              <a:t>DBK-xxxxx код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0000" y="6050000"/>
            <a:ext cx="3400000" cy="550000"/>
          </a:xfrm>
          <a:prstGeom prst="roundRect">
            <a:avLst>
              <a:gd name="adj" fmla="val 18000"/>
            </a:avLst>
          </a:prstGeom>
          <a:solidFill>
            <a:srgbClr val="FAFAFA"/>
          </a:solidFill>
          <a:ln w="158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0">
                <a:solidFill>
                  <a:srgbClr val="1B1F3A"/>
                </a:solidFill>
                <a:latin typeface="Calibri"/>
              </a:rPr>
              <a:t>1 цагийн өмнөх мэдэгдэл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0000" y="6780000"/>
            <a:ext cx="3400000" cy="550000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 w="15875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1">
                <a:solidFill>
                  <a:srgbClr val="1B1F3A"/>
                </a:solidFill>
                <a:latin typeface="Calibri"/>
              </a:rPr>
              <a:t>Баталгаажуулалт</a:t>
            </a:r>
          </a:p>
        </p:txBody>
      </p:sp>
      <p:sp>
        <p:nvSpPr>
          <p:cNvPr id="13" name="Oval 12"/>
          <p:cNvSpPr/>
          <p:nvPr/>
        </p:nvSpPr>
        <p:spPr>
          <a:xfrm>
            <a:off x="4560000" y="7510000"/>
            <a:ext cx="280000" cy="280000"/>
          </a:xfrm>
          <a:prstGeom prst="ellipse">
            <a:avLst/>
          </a:prstGeom>
          <a:noFill/>
          <a:ln w="19050">
            <a:solidFill>
              <a:srgbClr val="1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23000" y="7573000"/>
            <a:ext cx="154000" cy="154000"/>
          </a:xfrm>
          <a:prstGeom prst="ellipse">
            <a:avLst/>
          </a:prstGeom>
          <a:solidFill>
            <a:srgbClr val="1B1F3A"/>
          </a:solidFill>
          <a:ln w="6350">
            <a:solidFill>
              <a:srgbClr val="1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00000" y="3790000"/>
            <a:ext cx="2400000" cy="550000"/>
          </a:xfrm>
          <a:prstGeom prst="roundRect">
            <a:avLst>
              <a:gd name="adj" fmla="val 18000"/>
            </a:avLst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1">
                <a:solidFill>
                  <a:srgbClr val="1B1F3A"/>
                </a:solidFill>
                <a:latin typeface="Calibri"/>
              </a:rPr>
              <a:t>Алдаа — дахин сонгох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00000" y="1340000"/>
            <a:ext cx="0" cy="180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0000" y="2070000"/>
            <a:ext cx="0" cy="180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00000" y="2800000"/>
            <a:ext cx="0" cy="180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00000" y="3530000"/>
            <a:ext cx="0" cy="85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00000" y="4515000"/>
            <a:ext cx="0" cy="75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60000" y="44025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1">
                <a:solidFill>
                  <a:srgbClr val="1E884F"/>
                </a:solidFill>
                <a:latin typeface="Calibri"/>
              </a:rPr>
              <a:t>Тийм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00000" y="5140000"/>
            <a:ext cx="0" cy="180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00000" y="5870000"/>
            <a:ext cx="0" cy="180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00000" y="6600000"/>
            <a:ext cx="0" cy="180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00000" y="7330000"/>
            <a:ext cx="0" cy="180000"/>
          </a:xfrm>
          <a:prstGeom prst="line">
            <a:avLst/>
          </a:prstGeom>
          <a:ln w="1270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50000" y="4065000"/>
            <a:ext cx="1250000" cy="0"/>
          </a:xfrm>
          <a:prstGeom prst="line">
            <a:avLst/>
          </a:prstGeom>
          <a:ln w="15875">
            <a:solidFill>
              <a:srgbClr val="C0392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75000" y="368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1">
                <a:solidFill>
                  <a:srgbClr val="C0392B"/>
                </a:solidFill>
                <a:latin typeface="Calibri"/>
              </a:rPr>
              <a:t>Үгүй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100000" y="3255000"/>
            <a:ext cx="0" cy="53500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480000" y="3255000"/>
            <a:ext cx="1620000" cy="0"/>
          </a:xfrm>
          <a:prstGeom prst="line">
            <a:avLst/>
          </a:prstGeom>
          <a:ln w="158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400000" y="3255000"/>
            <a:ext cx="80000" cy="0"/>
          </a:xfrm>
          <a:prstGeom prst="line">
            <a:avLst/>
          </a:prstGeom>
          <a:ln w="15875">
            <a:solidFill>
              <a:srgbClr val="C0392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50000" y="2895000"/>
            <a:ext cx="9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>
                <a:solidFill>
                  <a:srgbClr val="4A526E"/>
                </a:solidFill>
                <a:latin typeface="Calibri"/>
              </a:rPr>
              <a:t>дахин оролдох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000" y="1020000"/>
            <a:ext cx="17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F3A68"/>
                </a:solidFill>
                <a:latin typeface="Calibri"/>
              </a:rPr>
              <a:t>ТАЙЛБАР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000" y="1400000"/>
            <a:ext cx="2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1F3A"/>
                </a:solidFill>
                <a:latin typeface="Calibr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1400000"/>
            <a:ext cx="1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Эхлэл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00" y="1780000"/>
            <a:ext cx="2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1F3A"/>
                </a:solidFill>
                <a:latin typeface="Calibri"/>
              </a:rPr>
              <a:t>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1780000"/>
            <a:ext cx="1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Төгсгөл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000" y="2160000"/>
            <a:ext cx="2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B78A12"/>
                </a:solidFill>
                <a:latin typeface="Calibri"/>
              </a:rPr>
              <a:t>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2160000"/>
            <a:ext cx="1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Шийдвэр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000" y="2540000"/>
            <a:ext cx="2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Calibri"/>
              </a:rPr>
              <a:t>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2540000"/>
            <a:ext cx="1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Үйл ажиллагаа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0000" y="2920000"/>
            <a:ext cx="2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000" y="2920000"/>
            <a:ext cx="1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Алдаа</a:t>
            </a:r>
          </a:p>
        </p:txBody>
      </p:sp>
    </p:spTree>
    <p:extLst>
      <p:ext uri="{BB962C8B-B14F-4D97-AF65-F5344CB8AC3E}">
        <p14:creationId xmlns:p14="http://schemas.microsoft.com/office/powerpoint/2010/main" val="3986879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395948" y="72438"/>
            <a:ext cx="11651683" cy="35394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Calibri"/>
              </a:rPr>
              <a:t>Email Баталгаажуулалтын Систем</a:t>
            </a:r>
          </a:p>
        </p:txBody>
      </p:sp>
      <p:pic>
        <p:nvPicPr>
          <p:cNvPr id="7" name="Picture 6" descr="Screenshot 2026-04-13 004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65" y="666360"/>
            <a:ext cx="2809434" cy="53417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9965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Нэвтрэх</a:t>
            </a:r>
          </a:p>
        </p:txBody>
      </p:sp>
      <p:pic>
        <p:nvPicPr>
          <p:cNvPr id="9" name="Picture 8" descr="Screenshot 2026-04-13 004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375" y="666360"/>
            <a:ext cx="2809434" cy="53980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59375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Бүртгүүлэх</a:t>
            </a:r>
          </a:p>
        </p:txBody>
      </p:sp>
      <p:pic>
        <p:nvPicPr>
          <p:cNvPr id="11" name="Picture 10" descr="c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240" y="666360"/>
            <a:ext cx="2520527" cy="54532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8786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Email OTP</a:t>
            </a:r>
          </a:p>
        </p:txBody>
      </p:sp>
      <p:pic>
        <p:nvPicPr>
          <p:cNvPr id="13" name="Picture 12" descr="Screenshot 2026-04-13 0041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197" y="666360"/>
            <a:ext cx="2809434" cy="5437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38197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Код оруулах</a:t>
            </a:r>
          </a:p>
        </p:txBody>
      </p:sp>
      <p:sp>
        <p:nvSpPr>
          <p:cNvPr id="15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3425450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0000" y="180000"/>
            <a:ext cx="9692000" cy="4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26A12"/>
                </a:solidFill>
                <a:latin typeface="Calibri"/>
              </a:rPr>
              <a:t>Бүлэг 2.2:  </a:t>
            </a:r>
            <a:r>
              <a:rPr sz="2000" b="1">
                <a:solidFill>
                  <a:srgbClr val="1F3A68"/>
                </a:solidFill>
                <a:latin typeface="Calibri"/>
              </a:rPr>
              <a:t>Email Баталгаажуулалт — Sequence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92000" y="200000"/>
            <a:ext cx="1700000" cy="380000"/>
          </a:xfrm>
          <a:prstGeom prst="roundRect">
            <a:avLst>
              <a:gd name="adj" fmla="val 45000"/>
            </a:avLst>
          </a:prstGeom>
          <a:solidFill>
            <a:srgbClr val="1F3A68"/>
          </a:solidFill>
          <a:ln w="63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UML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000" y="900000"/>
            <a:ext cx="2000000" cy="750000"/>
          </a:xfrm>
          <a:prstGeom prst="roundRect">
            <a:avLst>
              <a:gd name="adj" fmla="val 18000"/>
            </a:avLst>
          </a:prstGeom>
          <a:solidFill>
            <a:srgbClr val="E3EAF6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>
                <a:solidFill>
                  <a:srgbClr val="1F3A68"/>
                </a:solidFill>
                <a:latin typeface="Calibri"/>
              </a:rPr>
              <a:t>Хэрэглэгч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3000" y="900000"/>
            <a:ext cx="2000000" cy="750000"/>
          </a:xfrm>
          <a:prstGeom prst="roundRect">
            <a:avLst>
              <a:gd name="adj" fmla="val 18000"/>
            </a:avLst>
          </a:prstGeom>
          <a:solidFill>
            <a:srgbClr val="F1E5F7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>
                <a:solidFill>
                  <a:srgbClr val="6A1B9A"/>
                </a:solidFill>
                <a:latin typeface="Calibri"/>
              </a:rPr>
              <a:t>Flutter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6000" y="900000"/>
            <a:ext cx="2000000" cy="750000"/>
          </a:xfrm>
          <a:prstGeom prst="roundRect">
            <a:avLst>
              <a:gd name="adj" fmla="val 18000"/>
            </a:avLst>
          </a:prstGeom>
          <a:solidFill>
            <a:srgbClr val="FDEBD8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Firebase</a:t>
            </a:r>
          </a:p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9000" y="900000"/>
            <a:ext cx="2000000" cy="750000"/>
          </a:xfrm>
          <a:prstGeom prst="roundRect">
            <a:avLst>
              <a:gd name="adj" fmla="val 18000"/>
            </a:avLst>
          </a:prstGeom>
          <a:solidFill>
            <a:srgbClr val="D7F2EC"/>
          </a:solidFill>
          <a:ln w="1905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>
                <a:solidFill>
                  <a:srgbClr val="16A085"/>
                </a:solidFill>
                <a:latin typeface="Calibri"/>
              </a:rPr>
              <a:t>Node.js</a:t>
            </a:r>
          </a:p>
          <a:p>
            <a:pPr algn="ctr"/>
            <a:r>
              <a:rPr sz="1400" b="1">
                <a:solidFill>
                  <a:srgbClr val="16A085"/>
                </a:solidFill>
                <a:latin typeface="Calibri"/>
              </a:rPr>
              <a:t>EC2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42000" y="900000"/>
            <a:ext cx="2000000" cy="750000"/>
          </a:xfrm>
          <a:prstGeom prst="roundRect">
            <a:avLst>
              <a:gd name="adj" fmla="val 18000"/>
            </a:avLst>
          </a:prstGeom>
          <a:solidFill>
            <a:srgbClr val="FD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Gmail</a:t>
            </a:r>
          </a:p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SMTP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50000" y="1650000"/>
            <a:ext cx="0" cy="4750000"/>
          </a:xfrm>
          <a:prstGeom prst="line">
            <a:avLst/>
          </a:prstGeom>
          <a:ln w="9525">
            <a:solidFill>
              <a:srgbClr val="4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73000" y="1650000"/>
            <a:ext cx="0" cy="4750000"/>
          </a:xfrm>
          <a:prstGeom prst="line">
            <a:avLst/>
          </a:prstGeom>
          <a:ln w="9525">
            <a:solidFill>
              <a:srgbClr val="4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000" y="1650000"/>
            <a:ext cx="0" cy="4750000"/>
          </a:xfrm>
          <a:prstGeom prst="line">
            <a:avLst/>
          </a:prstGeom>
          <a:ln w="9525">
            <a:solidFill>
              <a:srgbClr val="4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9000" y="1650000"/>
            <a:ext cx="0" cy="4750000"/>
          </a:xfrm>
          <a:prstGeom prst="line">
            <a:avLst/>
          </a:prstGeom>
          <a:ln w="9525">
            <a:solidFill>
              <a:srgbClr val="4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42000" y="1650000"/>
            <a:ext cx="0" cy="4750000"/>
          </a:xfrm>
          <a:prstGeom prst="line">
            <a:avLst/>
          </a:prstGeom>
          <a:ln w="9525">
            <a:solidFill>
              <a:srgbClr val="4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50000" y="2150000"/>
            <a:ext cx="2323000" cy="0"/>
          </a:xfrm>
          <a:prstGeom prst="line">
            <a:avLst/>
          </a:prstGeom>
          <a:ln w="1905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11500" y="182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1. email, нууц үг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73000" y="2690000"/>
            <a:ext cx="2323000" cy="0"/>
          </a:xfrm>
          <a:prstGeom prst="line">
            <a:avLst/>
          </a:prstGeom>
          <a:ln w="1905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34500" y="236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2. createUser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773000" y="3230000"/>
            <a:ext cx="2323000" cy="0"/>
          </a:xfrm>
          <a:prstGeom prst="line">
            <a:avLst/>
          </a:prstGeom>
          <a:ln w="15875">
            <a:solidFill>
              <a:srgbClr val="1E884F"/>
            </a:solidFill>
            <a:prstDash val="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34500" y="290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1">
                <a:solidFill>
                  <a:srgbClr val="1E884F"/>
                </a:solidFill>
                <a:latin typeface="Calibri"/>
              </a:rPr>
              <a:t>3. UID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73000" y="3770000"/>
            <a:ext cx="4646000" cy="0"/>
          </a:xfrm>
          <a:prstGeom prst="line">
            <a:avLst/>
          </a:prstGeom>
          <a:ln w="1905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6000" y="344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4. POST /send-code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9000" y="4310000"/>
            <a:ext cx="2323000" cy="0"/>
          </a:xfrm>
          <a:prstGeom prst="line">
            <a:avLst/>
          </a:prstGeom>
          <a:ln w="19050">
            <a:solidFill>
              <a:srgbClr val="1B1F3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0500" y="398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5. 6-digit code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419000" y="4850000"/>
            <a:ext cx="2323000" cy="0"/>
          </a:xfrm>
          <a:prstGeom prst="line">
            <a:avLst/>
          </a:prstGeom>
          <a:ln w="15875">
            <a:solidFill>
              <a:srgbClr val="1E884F"/>
            </a:solidFill>
            <a:prstDash val="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80500" y="452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1">
                <a:solidFill>
                  <a:srgbClr val="1E884F"/>
                </a:solidFill>
                <a:latin typeface="Calibri"/>
              </a:rPr>
              <a:t>6. OK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773000" y="5390000"/>
            <a:ext cx="4646000" cy="0"/>
          </a:xfrm>
          <a:prstGeom prst="line">
            <a:avLst/>
          </a:prstGeom>
          <a:ln w="15875">
            <a:solidFill>
              <a:srgbClr val="1E884F"/>
            </a:solidFill>
            <a:prstDash val="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96000" y="506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1">
                <a:solidFill>
                  <a:srgbClr val="1E884F"/>
                </a:solidFill>
                <a:latin typeface="Calibri"/>
              </a:rPr>
              <a:t>7. 200 OK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450000" y="5930000"/>
            <a:ext cx="2323000" cy="0"/>
          </a:xfrm>
          <a:prstGeom prst="line">
            <a:avLst/>
          </a:prstGeom>
          <a:ln w="15875">
            <a:solidFill>
              <a:srgbClr val="1E884F"/>
            </a:solidFill>
            <a:prstDash val="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11500" y="560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1">
                <a:solidFill>
                  <a:srgbClr val="1E884F"/>
                </a:solidFill>
                <a:latin typeface="Calibri"/>
              </a:rPr>
              <a:t>8. Код оруул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000" y="6500000"/>
            <a:ext cx="11292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4A526E"/>
                </a:solidFill>
                <a:latin typeface="Calibri"/>
              </a:rPr>
              <a:t>──── солих хүсэлт      ─ ─ ─ хариу буцах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395948" y="72438"/>
            <a:ext cx="11651683" cy="35394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Calibri"/>
              </a:rPr>
              <a:t>Давхцал Шалгах Логик — Firestore Query</a:t>
            </a:r>
          </a:p>
        </p:txBody>
      </p:sp>
      <p:pic>
        <p:nvPicPr>
          <p:cNvPr id="7" name="Picture 6" descr="diag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65" y="666360"/>
            <a:ext cx="11777666" cy="5777248"/>
          </a:xfrm>
          <a:prstGeom prst="rect">
            <a:avLst/>
          </a:prstGeom>
        </p:spPr>
      </p:pic>
      <p:sp>
        <p:nvSpPr>
          <p:cNvPr id="8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3327041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395948" y="72438"/>
            <a:ext cx="11651683" cy="35394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Calibri"/>
              </a:rPr>
              <a:t>Мобайл Аппликейшн — UI/UX</a:t>
            </a:r>
          </a:p>
        </p:txBody>
      </p:sp>
      <p:pic>
        <p:nvPicPr>
          <p:cNvPr id="7" name="Picture 6" descr="Screenshot 2026-04-13 004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65" y="666360"/>
            <a:ext cx="2809434" cy="53417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9965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Миний захиалгууд</a:t>
            </a:r>
          </a:p>
        </p:txBody>
      </p:sp>
      <p:pic>
        <p:nvPicPr>
          <p:cNvPr id="9" name="Picture 8" descr="home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375" y="666360"/>
            <a:ext cx="2809434" cy="53689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59375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Нүүр</a:t>
            </a:r>
          </a:p>
        </p:txBody>
      </p:sp>
      <p:pic>
        <p:nvPicPr>
          <p:cNvPr id="11" name="Picture 10" descr="Screenshot 2026-04-13 0039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253" y="666360"/>
            <a:ext cx="2798498" cy="54532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8786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Цаг захиалах</a:t>
            </a:r>
          </a:p>
        </p:txBody>
      </p:sp>
      <p:pic>
        <p:nvPicPr>
          <p:cNvPr id="13" name="Picture 12" descr="Screenshot 2026-04-13 004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197" y="666360"/>
            <a:ext cx="2809434" cy="54446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38197" y="6155645"/>
            <a:ext cx="2809434" cy="242820"/>
          </a:xfrm>
          <a:prstGeom prst="rect">
            <a:avLst/>
          </a:prstGeom>
          <a:noFill/>
        </p:spPr>
        <p:txBody>
          <a:bodyPr wrap="square" lIns="71991" tIns="28796" rIns="53993" bIns="28796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Calibri"/>
              </a:rPr>
              <a:t>Захиалга баталгаажуулах</a:t>
            </a:r>
          </a:p>
        </p:txBody>
      </p:sp>
      <p:sp>
        <p:nvSpPr>
          <p:cNvPr id="15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2691544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" y="120000"/>
            <a:ext cx="9692000" cy="4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26A12"/>
                </a:solidFill>
                <a:latin typeface="Calibri"/>
              </a:rPr>
              <a:t>Бүлэг 2.2:  </a:t>
            </a:r>
            <a:r>
              <a:rPr sz="2000" b="1">
                <a:solidFill>
                  <a:srgbClr val="1F3A68"/>
                </a:solidFill>
                <a:latin typeface="Calibri"/>
              </a:rPr>
              <a:t>AI Туслах — Хоёр горим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92000" y="150000"/>
            <a:ext cx="1700000" cy="380000"/>
          </a:xfrm>
          <a:prstGeom prst="roundRect">
            <a:avLst>
              <a:gd name="adj" fmla="val 45000"/>
            </a:avLst>
          </a:prstGeom>
          <a:solidFill>
            <a:srgbClr val="1F3A68"/>
          </a:solidFill>
          <a:ln w="63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DUAL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000" y="2650000"/>
            <a:ext cx="2500000" cy="1400000"/>
          </a:xfrm>
          <a:prstGeom prst="roundRect">
            <a:avLst>
              <a:gd name="adj" fmla="val 10000"/>
            </a:avLst>
          </a:prstGeom>
          <a:solidFill>
            <a:srgbClr val="E3EAF6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000" y="2710000"/>
            <a:ext cx="120000" cy="1280000"/>
          </a:xfrm>
          <a:prstGeom prst="rect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0" y="2920000"/>
            <a:ext cx="22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Calibri"/>
              </a:rPr>
              <a:t>Flutter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" y="3340000"/>
            <a:ext cx="222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26E"/>
                </a:solidFill>
                <a:latin typeface="Calibri"/>
              </a:rPr>
              <a:t>Хэрэглэгчийн чат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000" y="1525000"/>
            <a:ext cx="2900000" cy="135000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50000" y="1585000"/>
            <a:ext cx="120000" cy="1230000"/>
          </a:xfrm>
          <a:prstGeom prst="rect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10000" y="1645000"/>
            <a:ext cx="900000" cy="280000"/>
          </a:xfrm>
          <a:prstGeom prst="roundRect">
            <a:avLst>
              <a:gd name="adj" fmla="val 45000"/>
            </a:avLst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ҮНДСЭН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0000" y="2035000"/>
            <a:ext cx="2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884F"/>
                </a:solidFill>
                <a:latin typeface="Calibri"/>
              </a:rPr>
              <a:t>Firebase
Cloud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000" y="2455000"/>
            <a:ext cx="262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26E"/>
                </a:solidFill>
                <a:latin typeface="Calibri"/>
              </a:rPr>
              <a:t>API key Flutter-т харагдахгүй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000" y="3825000"/>
            <a:ext cx="2900000" cy="1350000"/>
          </a:xfrm>
          <a:prstGeom prst="roundRect">
            <a:avLst>
              <a:gd name="adj" fmla="val 10000"/>
            </a:avLst>
          </a:prstGeom>
          <a:solidFill>
            <a:srgbClr val="FFF1E0"/>
          </a:solidFill>
          <a:ln w="19050">
            <a:solidFill>
              <a:srgbClr val="C2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50000" y="3885000"/>
            <a:ext cx="120000" cy="1230000"/>
          </a:xfrm>
          <a:prstGeom prst="rect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810000" y="3945000"/>
            <a:ext cx="900000" cy="280000"/>
          </a:xfrm>
          <a:prstGeom prst="roundRect">
            <a:avLst>
              <a:gd name="adj" fmla="val 45000"/>
            </a:avLst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НӨӨЦ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0000" y="4335000"/>
            <a:ext cx="2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6A12"/>
                </a:solidFill>
                <a:latin typeface="Calibri"/>
              </a:rPr>
              <a:t>Node.js / EC2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0000" y="4755000"/>
            <a:ext cx="262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26E"/>
                </a:solidFill>
                <a:latin typeface="Calibri"/>
              </a:rPr>
              <a:t>Cloud Function алдаа → backup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0000" y="1525000"/>
            <a:ext cx="2900000" cy="135000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50000" y="1585000"/>
            <a:ext cx="120000" cy="1230000"/>
          </a:xfrm>
          <a:prstGeom prst="rect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0000" y="1795000"/>
            <a:ext cx="2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884F"/>
                </a:solidFill>
                <a:latin typeface="Calibri"/>
              </a:rPr>
              <a:t>Claude Haiku 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0000" y="2215000"/>
            <a:ext cx="262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26E"/>
                </a:solidFill>
                <a:latin typeface="Calibri"/>
              </a:rPr>
              <a:t>Anthropic · &lt; 1 сек хариу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0000" y="3825000"/>
            <a:ext cx="2900000" cy="1350000"/>
          </a:xfrm>
          <a:prstGeom prst="roundRect">
            <a:avLst>
              <a:gd name="adj" fmla="val 10000"/>
            </a:avLst>
          </a:prstGeom>
          <a:solidFill>
            <a:srgbClr val="FFF1E0"/>
          </a:solidFill>
          <a:ln w="19050">
            <a:solidFill>
              <a:srgbClr val="C2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50000" y="3885000"/>
            <a:ext cx="120000" cy="1230000"/>
          </a:xfrm>
          <a:prstGeom prst="rect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70000" y="4095000"/>
            <a:ext cx="262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6A12"/>
                </a:solidFill>
                <a:latin typeface="Calibri"/>
              </a:rPr>
              <a:t>Groq Llama 3.1-8b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0000" y="4515000"/>
            <a:ext cx="262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A526E"/>
                </a:solidFill>
                <a:latin typeface="Calibri"/>
              </a:rPr>
              <a:t>LPU дэд бүтэц · хурдан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750000" y="2200000"/>
            <a:ext cx="1200000" cy="900000"/>
          </a:xfrm>
          <a:prstGeom prst="line">
            <a:avLst/>
          </a:prstGeom>
          <a:ln w="22225">
            <a:solidFill>
              <a:srgbClr val="1E884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50000" y="2270000"/>
            <a:ext cx="1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E884F"/>
                </a:solidFill>
                <a:latin typeface="Calibri"/>
              </a:rPr>
              <a:t>Cloud Function call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50000" y="3600000"/>
            <a:ext cx="1200000" cy="900000"/>
          </a:xfrm>
          <a:prstGeom prst="line">
            <a:avLst/>
          </a:prstGeom>
          <a:ln w="22225">
            <a:solidFill>
              <a:srgbClr val="C26A12"/>
            </a:solidFill>
            <a:prstDash val="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50000" y="4170000"/>
            <a:ext cx="1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26A12"/>
                </a:solidFill>
                <a:latin typeface="Calibri"/>
              </a:rPr>
              <a:t>fallback if timeout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0000" y="2200000"/>
            <a:ext cx="1400000" cy="0"/>
          </a:xfrm>
          <a:prstGeom prst="line">
            <a:avLst/>
          </a:prstGeom>
          <a:ln w="22225">
            <a:solidFill>
              <a:srgbClr val="1E884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0000" y="4500000"/>
            <a:ext cx="1400000" cy="0"/>
          </a:xfrm>
          <a:prstGeom prst="line">
            <a:avLst/>
          </a:prstGeom>
          <a:ln w="22225">
            <a:solidFill>
              <a:srgbClr val="C26A1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50000" y="5700000"/>
            <a:ext cx="11292000" cy="9000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0000" y="5820000"/>
            <a:ext cx="5446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884F"/>
                </a:solidFill>
                <a:latin typeface="Calibri"/>
              </a:rPr>
              <a:t>● ҮНДСЭН ГОРИМ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000" y="6120000"/>
            <a:ext cx="5446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alibri"/>
              </a:rPr>
              <a:t>Claude Haiku 4.5 нь Cloud Function-аар дуудагдаж &lt; 1 секундэд хариулдаг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6000" y="5820000"/>
            <a:ext cx="5446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6A12"/>
                </a:solidFill>
                <a:latin typeface="Calibri"/>
              </a:rPr>
              <a:t>● НӨӨЦ ГОРИМ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6000" y="6120000"/>
            <a:ext cx="5446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alibri"/>
              </a:rPr>
              <a:t>Cloud Function алдаа гарвал Groq Llama автоматаар идэвхждэг</a:t>
            </a:r>
          </a:p>
        </p:txBody>
      </p:sp>
    </p:spTree>
    <p:extLst>
      <p:ext uri="{BB962C8B-B14F-4D97-AF65-F5344CB8AC3E}">
        <p14:creationId xmlns:p14="http://schemas.microsoft.com/office/powerpoint/2010/main" val="1852439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" y="120000"/>
            <a:ext cx="9692000" cy="4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E884F"/>
                </a:solidFill>
                <a:latin typeface="Calibri"/>
              </a:rPr>
              <a:t>Бүлэг 2.4:  </a:t>
            </a:r>
            <a:r>
              <a:rPr sz="2000" b="1">
                <a:solidFill>
                  <a:srgbClr val="1F3A68"/>
                </a:solidFill>
                <a:latin typeface="Calibri"/>
              </a:rPr>
              <a:t>Firebase Firestore — Өгөгдлийн схем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92000" y="150000"/>
            <a:ext cx="1700000" cy="380000"/>
          </a:xfrm>
          <a:prstGeom prst="roundRect">
            <a:avLst>
              <a:gd name="adj" fmla="val 45000"/>
            </a:avLst>
          </a:prstGeom>
          <a:solidFill>
            <a:srgbClr val="1F3A68"/>
          </a:solidFill>
          <a:ln w="63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COLLECTIONS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6000" y="900000"/>
            <a:ext cx="2900000" cy="240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6000" y="940000"/>
            <a:ext cx="2820000" cy="450000"/>
          </a:xfrm>
          <a:prstGeom prst="rect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6000" y="940000"/>
            <a:ext cx="40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6000" y="1580000"/>
            <a:ext cx="280000" cy="220000"/>
          </a:xfrm>
          <a:prstGeom prst="roundRect">
            <a:avLst>
              <a:gd name="adj" fmla="val 45000"/>
            </a:avLst>
          </a:prstGeom>
          <a:solidFill>
            <a:srgbClr val="FFF8E1"/>
          </a:solidFill>
          <a:ln w="6350">
            <a:solidFill>
              <a:srgbClr val="B78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800" b="1" i="0">
                <a:solidFill>
                  <a:srgbClr val="B78A12"/>
                </a:solidFill>
                <a:latin typeface="Calibri"/>
              </a:rPr>
              <a:t>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6000" y="154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1F3A"/>
                </a:solidFill>
                <a:latin typeface="Consolas"/>
              </a:rPr>
              <a:t>uid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6000" y="154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doc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000" y="187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6000" y="187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6000" y="187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000" y="220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6000" y="220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6000" y="220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000" y="253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6000" y="253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emailVerified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6000" y="253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bool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000" y="286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6000" y="286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createdAt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6000" y="286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timestamp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000" y="900000"/>
            <a:ext cx="2900000" cy="240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36000" y="940000"/>
            <a:ext cx="2820000" cy="450000"/>
          </a:xfrm>
          <a:prstGeom prst="rect">
            <a:avLst/>
          </a:prstGeom>
          <a:solidFill>
            <a:srgbClr val="6A1B9A"/>
          </a:solidFill>
          <a:ln w="31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bookings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6000" y="940000"/>
            <a:ext cx="40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6000" y="1580000"/>
            <a:ext cx="280000" cy="220000"/>
          </a:xfrm>
          <a:prstGeom prst="roundRect">
            <a:avLst>
              <a:gd name="adj" fmla="val 45000"/>
            </a:avLst>
          </a:prstGeom>
          <a:solidFill>
            <a:srgbClr val="FFF8E1"/>
          </a:solidFill>
          <a:ln w="6350">
            <a:solidFill>
              <a:srgbClr val="B78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800" b="1" i="0">
                <a:solidFill>
                  <a:srgbClr val="B78A12"/>
                </a:solidFill>
                <a:latin typeface="Calibri"/>
              </a:rPr>
              <a:t>PK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6000" y="154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1F3A"/>
                </a:solidFill>
                <a:latin typeface="Consolas"/>
              </a:rPr>
              <a:t>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6000" y="154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DBK-xxxxx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6000" y="187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6000" y="187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userId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6000" y="187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  (FK)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6000" y="220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6000" y="220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venueId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6000" y="220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6000" y="253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6000" y="253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6000" y="253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  (Y-M-D)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6000" y="286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6000" y="286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timeSlot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6000" y="286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6000" y="319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  <a:latin typeface="Calibr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6000" y="319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6000" y="319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upcoming | cancelled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96000" y="3580000"/>
            <a:ext cx="2900000" cy="240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C2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036000" y="3620000"/>
            <a:ext cx="2820000" cy="450000"/>
          </a:xfrm>
          <a:prstGeom prst="rect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fixed_bookings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6000" y="3620000"/>
            <a:ext cx="40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76000" y="422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26A12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56000" y="422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venueId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76000" y="422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76000" y="455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26A12"/>
                </a:solidFill>
                <a:latin typeface="Calibr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56000" y="455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organizationName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76000" y="455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76000" y="488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26A12"/>
                </a:solidFill>
                <a:latin typeface="Calibri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56000" y="488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dayOfWeek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76000" y="488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0..6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76000" y="521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26A12"/>
                </a:solidFill>
                <a:latin typeface="Calibr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56000" y="521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timeSlot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76000" y="521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76000" y="554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26A12"/>
                </a:solidFill>
                <a:latin typeface="Calibri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56000" y="554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isActive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76000" y="554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bool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96000" y="3580000"/>
            <a:ext cx="2900000" cy="2400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336000" y="3620000"/>
            <a:ext cx="2820000" cy="450000"/>
          </a:xfrm>
          <a:prstGeom prst="rect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email_verifications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76000" y="3620000"/>
            <a:ext cx="40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76000" y="4260000"/>
            <a:ext cx="280000" cy="220000"/>
          </a:xfrm>
          <a:prstGeom prst="roundRect">
            <a:avLst>
              <a:gd name="adj" fmla="val 45000"/>
            </a:avLst>
          </a:prstGeom>
          <a:solidFill>
            <a:srgbClr val="FFF8E1"/>
          </a:solidFill>
          <a:ln w="6350">
            <a:solidFill>
              <a:srgbClr val="B78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800" b="1" i="0">
                <a:solidFill>
                  <a:srgbClr val="B78A12"/>
                </a:solidFill>
                <a:latin typeface="Calibri"/>
              </a:rPr>
              <a:t>PK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76000" y="422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1F3A"/>
                </a:solidFill>
                <a:latin typeface="Consolas"/>
              </a:rPr>
              <a:t>uid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76000" y="422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doc 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76000" y="455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Calibri"/>
              </a:rP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6000" y="455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code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76000" y="455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6 оронтой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6000" y="488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Calibri"/>
              </a:rP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6000" y="488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email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76000" y="488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string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76000" y="5210000"/>
            <a:ext cx="28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Calibri"/>
              </a:rP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6000" y="5210000"/>
            <a:ext cx="14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1F3A"/>
                </a:solidFill>
                <a:latin typeface="Consolas"/>
              </a:rPr>
              <a:t>expiresAt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76000" y="5210000"/>
            <a:ext cx="82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A526E"/>
                </a:solidFill>
                <a:latin typeface="Consolas"/>
              </a:rPr>
              <a:t>timestamp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896000" y="2100000"/>
            <a:ext cx="2400000" cy="0"/>
          </a:xfrm>
          <a:prstGeom prst="line">
            <a:avLst/>
          </a:prstGeom>
          <a:ln w="15875">
            <a:solidFill>
              <a:srgbClr val="6B728A"/>
            </a:solidFill>
            <a:prstDash val="dash"/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5646000" y="1960000"/>
            <a:ext cx="900000" cy="280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6350">
            <a:solidFill>
              <a:srgbClr val="6B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900" b="1" i="1">
                <a:solidFill>
                  <a:srgbClr val="6B728A"/>
                </a:solidFill>
                <a:latin typeface="Calibri"/>
              </a:rPr>
              <a:t>userId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496000" y="3300000"/>
            <a:ext cx="3200000" cy="280000"/>
          </a:xfrm>
          <a:prstGeom prst="line">
            <a:avLst/>
          </a:prstGeom>
          <a:ln w="15875">
            <a:solidFill>
              <a:srgbClr val="6B728A"/>
            </a:solidFill>
            <a:prstDash val="dash"/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5646000" y="3300000"/>
            <a:ext cx="900000" cy="280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6350">
            <a:solidFill>
              <a:srgbClr val="6B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0000" rIns="60000" bIns="20000" rtlCol="0" anchor="ctr"/>
          <a:lstStyle/>
          <a:p>
            <a:pPr algn="ctr"/>
            <a:r>
              <a:rPr sz="900" b="1" i="1">
                <a:solidFill>
                  <a:srgbClr val="6B728A"/>
                </a:solidFill>
                <a:latin typeface="Calibri"/>
              </a:rPr>
              <a:t>uid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0000" y="6500000"/>
            <a:ext cx="11292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4A526E"/>
                </a:solidFill>
                <a:latin typeface="Calibri"/>
              </a:rPr>
              <a:t>▤  Collection нэр       PK  doc ID түлхүүр       ─ ─ ─  Гадаад түлхүүр харилцаа</a:t>
            </a:r>
          </a:p>
        </p:txBody>
      </p:sp>
    </p:spTree>
    <p:extLst>
      <p:ext uri="{BB962C8B-B14F-4D97-AF65-F5344CB8AC3E}">
        <p14:creationId xmlns:p14="http://schemas.microsoft.com/office/powerpoint/2010/main" val="458430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1710-DF7D-F774-3DA9-B53C3749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50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0000" y="1050000"/>
            <a:ext cx="29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1400000"/>
            <a:ext cx="2900000" cy="2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" y="4300000"/>
            <a:ext cx="29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FD8EC"/>
                </a:solidFill>
                <a:latin typeface="Calibri"/>
              </a:rPr>
              <a:t>M.Tүвшинжаргал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0" y="1200000"/>
            <a:ext cx="74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26A12"/>
                </a:solidFill>
                <a:latin typeface="Calibri"/>
              </a:rPr>
              <a:t>БҮЛЭГ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1750000"/>
            <a:ext cx="7492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F3A68"/>
                </a:solidFill>
                <a:latin typeface="Calibri"/>
              </a:rPr>
              <a:t>Үүлэн орчны
хэрэгжүүлэлт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0000" y="3400000"/>
            <a:ext cx="900000" cy="70000"/>
          </a:xfrm>
          <a:prstGeom prst="rect">
            <a:avLst/>
          </a:prstGeom>
          <a:solidFill>
            <a:srgbClr val="C26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40000" y="3740000"/>
            <a:ext cx="1670000" cy="8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95000" y="3920000"/>
            <a:ext cx="360000" cy="36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68"/>
                </a:solidFill>
                <a:latin typeface="Calibri"/>
              </a:rP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контейнержуулалт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C2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0000" y="3740000"/>
            <a:ext cx="1670000" cy="80000"/>
          </a:xfrm>
          <a:prstGeom prst="rect">
            <a:avLst/>
          </a:prstGeom>
          <a:solidFill>
            <a:srgbClr val="C26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95000" y="3920000"/>
            <a:ext cx="360000" cy="360000"/>
          </a:xfrm>
          <a:prstGeom prst="ellipse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26A12"/>
                </a:solidFill>
                <a:latin typeface="Calibri"/>
              </a:rPr>
              <a:t>AWS EC2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ap-southeast-1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0000" y="3740000"/>
            <a:ext cx="1670000" cy="80000"/>
          </a:xfrm>
          <a:prstGeom prst="rect">
            <a:avLst/>
          </a:prstGeom>
          <a:solidFill>
            <a:srgbClr val="1E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95000" y="3920000"/>
            <a:ext cx="360000" cy="3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884F"/>
                </a:solidFill>
                <a:latin typeface="Calibri"/>
              </a:rPr>
              <a:t>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CI/CD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0000" y="3700000"/>
            <a:ext cx="1750000" cy="15000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40000" y="3740000"/>
            <a:ext cx="1670000" cy="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595000" y="3920000"/>
            <a:ext cx="360000" cy="360000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95000" y="39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0000" y="440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Туршилт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0000" y="4780000"/>
            <a:ext cx="155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26E"/>
                </a:solidFill>
                <a:latin typeface="Calibri"/>
              </a:rPr>
              <a:t>функциональ · нэгтгэл</a:t>
            </a:r>
          </a:p>
        </p:txBody>
      </p:sp>
    </p:spTree>
    <p:extLst>
      <p:ext uri="{BB962C8B-B14F-4D97-AF65-F5344CB8AC3E}">
        <p14:creationId xmlns:p14="http://schemas.microsoft.com/office/powerpoint/2010/main" val="402940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000" y="180000"/>
            <a:ext cx="9692000" cy="4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Calibri"/>
              </a:rPr>
              <a:t>Бүлэг 3.1:  </a:t>
            </a:r>
            <a:r>
              <a:rPr sz="2000" b="1">
                <a:solidFill>
                  <a:srgbClr val="1F3A68"/>
                </a:solidFill>
                <a:latin typeface="Calibri"/>
              </a:rPr>
              <a:t>Үүлэн орчны Деплой Архитектур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92000" y="180000"/>
            <a:ext cx="1900000" cy="380000"/>
          </a:xfrm>
          <a:prstGeom prst="roundRect">
            <a:avLst>
              <a:gd name="adj" fmla="val 45000"/>
            </a:avLst>
          </a:prstGeom>
          <a:solidFill>
            <a:srgbClr val="1F3A68"/>
          </a:solidFill>
          <a:ln w="63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3–4 МИН АВТОМАТ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000" y="1800000"/>
            <a:ext cx="2400000" cy="3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166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1000" y="1840000"/>
            <a:ext cx="2320000" cy="800000"/>
          </a:xfrm>
          <a:prstGeom prst="rect">
            <a:avLst/>
          </a:prstGeom>
          <a:solidFill>
            <a:srgbClr val="166BAB"/>
          </a:solidFill>
          <a:ln w="3175">
            <a:solidFill>
              <a:srgbClr val="166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1000" y="1860000"/>
            <a:ext cx="2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STAGE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00" y="2080000"/>
            <a:ext cx="228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&lt;/&gt;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000" y="2790000"/>
            <a:ext cx="232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66BAB"/>
                </a:solidFill>
                <a:latin typeface="Calibri"/>
              </a:rPr>
              <a:t>Local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00" y="326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66BAB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000" y="326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VS Code,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00" y="358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66BAB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000" y="358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Flutter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00" y="390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66BAB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00" y="390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Docker 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00" y="422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66BAB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0" y="422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git commit</a:t>
            </a:r>
          </a:p>
        </p:txBody>
      </p:sp>
      <p:sp>
        <p:nvSpPr>
          <p:cNvPr id="17" name="Pentagon 16"/>
          <p:cNvSpPr/>
          <p:nvPr/>
        </p:nvSpPr>
        <p:spPr>
          <a:xfrm>
            <a:off x="2901000" y="3275000"/>
            <a:ext cx="450000" cy="450000"/>
          </a:xfrm>
          <a:prstGeom prst="homePlate">
            <a:avLst/>
          </a:prstGeom>
          <a:solidFill>
            <a:srgbClr val="24293E"/>
          </a:solidFill>
          <a:ln w="3175">
            <a:solidFill>
              <a:srgbClr val="242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1000" y="1800000"/>
            <a:ext cx="2400000" cy="3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24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1000" y="1840000"/>
            <a:ext cx="2320000" cy="800000"/>
          </a:xfrm>
          <a:prstGeom prst="rect">
            <a:avLst/>
          </a:prstGeom>
          <a:solidFill>
            <a:srgbClr val="24293E"/>
          </a:solidFill>
          <a:ln w="3175">
            <a:solidFill>
              <a:srgbClr val="242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1000" y="1860000"/>
            <a:ext cx="2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STAGE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1000" y="2080000"/>
            <a:ext cx="228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1000" y="2790000"/>
            <a:ext cx="232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4293E"/>
                </a:solidFill>
                <a:latin typeface="Calibri"/>
              </a:rP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1000" y="326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4293E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1000" y="326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Repository (main)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1000" y="358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4293E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1000" y="358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GitHub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1000" y="390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4293E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1000" y="390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Workflow YAML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1000" y="422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4293E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1000" y="422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secrets / IAM</a:t>
            </a:r>
          </a:p>
        </p:txBody>
      </p:sp>
      <p:sp>
        <p:nvSpPr>
          <p:cNvPr id="31" name="Pentagon 30"/>
          <p:cNvSpPr/>
          <p:nvPr/>
        </p:nvSpPr>
        <p:spPr>
          <a:xfrm>
            <a:off x="5871000" y="3275000"/>
            <a:ext cx="450000" cy="450000"/>
          </a:xfrm>
          <a:prstGeom prst="homePlate">
            <a:avLst/>
          </a:prstGeom>
          <a:solidFill>
            <a:srgbClr val="E67E22"/>
          </a:solidFill>
          <a:ln w="317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1000" y="1800000"/>
            <a:ext cx="2400000" cy="3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21000" y="1840000"/>
            <a:ext cx="2320000" cy="800000"/>
          </a:xfrm>
          <a:prstGeom prst="rect">
            <a:avLst/>
          </a:prstGeom>
          <a:solidFill>
            <a:srgbClr val="E67E22"/>
          </a:solidFill>
          <a:ln w="317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1000" y="1860000"/>
            <a:ext cx="2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STAGE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1000" y="2080000"/>
            <a:ext cx="228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1000" y="2790000"/>
            <a:ext cx="232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  <a:latin typeface="Calibri"/>
              </a:rPr>
              <a:t>AWS 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1000" y="326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1000" y="326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ECR — Docker registry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1000" y="358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1000" y="358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EC2 (ap-southeast-1)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1000" y="390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1000" y="390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Node.js контейнер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1000" y="422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1000" y="422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REST API endpoint</a:t>
            </a:r>
          </a:p>
        </p:txBody>
      </p:sp>
      <p:sp>
        <p:nvSpPr>
          <p:cNvPr id="45" name="Pentagon 44"/>
          <p:cNvSpPr/>
          <p:nvPr/>
        </p:nvSpPr>
        <p:spPr>
          <a:xfrm>
            <a:off x="8841000" y="3275000"/>
            <a:ext cx="450000" cy="450000"/>
          </a:xfrm>
          <a:prstGeom prst="homePlat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51000" y="1800000"/>
            <a:ext cx="2400000" cy="3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391000" y="1840000"/>
            <a:ext cx="2320000" cy="800000"/>
          </a:xfrm>
          <a:prstGeom prst="rect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1000" y="1860000"/>
            <a:ext cx="2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STAGE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1000" y="2080000"/>
            <a:ext cx="228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1000" y="2790000"/>
            <a:ext cx="232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E884F"/>
                </a:solidFill>
                <a:latin typeface="Calibri"/>
              </a:rPr>
              <a:t>Play 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31000" y="326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1000" y="326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Android .aab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1000" y="358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1000" y="358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Internal testing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31000" y="390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31000" y="390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Production track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31000" y="4220000"/>
            <a:ext cx="1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884F"/>
                </a:solidFill>
                <a:latin typeface="Calibr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1000" y="4220000"/>
            <a:ext cx="19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Хэрэглэгчид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0000" y="5700000"/>
            <a:ext cx="11292000" cy="90000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0000" y="5820000"/>
            <a:ext cx="2643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66BAB"/>
                </a:solidFill>
                <a:latin typeface="Calibri"/>
              </a:rPr>
              <a:t>➀ git push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000" y="6120000"/>
            <a:ext cx="2643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локалаас main руу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73000" y="5820000"/>
            <a:ext cx="2643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4293E"/>
                </a:solidFill>
                <a:latin typeface="Calibri"/>
              </a:rPr>
              <a:t>➁ Actions trigger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73000" y="6120000"/>
            <a:ext cx="2643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Docker build + ECR push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0" y="5820000"/>
            <a:ext cx="2643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alibri"/>
              </a:rPr>
              <a:t>➂ EC2 redeploy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0" y="6120000"/>
            <a:ext cx="2643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SSH + docker pull/run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19000" y="5820000"/>
            <a:ext cx="2643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E884F"/>
                </a:solidFill>
                <a:latin typeface="Calibri"/>
              </a:rPr>
              <a:t>➃ App release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19000" y="6120000"/>
            <a:ext cx="2643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1F3A"/>
                </a:solidFill>
                <a:latin typeface="Calibri"/>
              </a:rPr>
              <a:t>AAB → Production</a:t>
            </a:r>
          </a:p>
        </p:txBody>
      </p:sp>
    </p:spTree>
    <p:extLst>
      <p:ext uri="{BB962C8B-B14F-4D97-AF65-F5344CB8AC3E}">
        <p14:creationId xmlns:p14="http://schemas.microsoft.com/office/powerpoint/2010/main" val="2223308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" y="120000"/>
            <a:ext cx="9692000" cy="4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26A12"/>
                </a:solidFill>
                <a:latin typeface="Calibri"/>
              </a:rPr>
              <a:t>Бүлэг 3.1:  </a:t>
            </a:r>
            <a:r>
              <a:rPr sz="2000" b="1">
                <a:solidFill>
                  <a:srgbClr val="1F3A68"/>
                </a:solidFill>
                <a:latin typeface="Calibri"/>
              </a:rPr>
              <a:t>CI/CD Pipeline — Docker + AWS EC2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2000" y="150000"/>
            <a:ext cx="1900000" cy="380000"/>
          </a:xfrm>
          <a:prstGeom prst="roundRect">
            <a:avLst>
              <a:gd name="adj" fmla="val 45000"/>
            </a:avLst>
          </a:prstGeom>
          <a:solidFill>
            <a:srgbClr val="1E884F"/>
          </a:solidFill>
          <a:ln w="63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● AUTOMATED  ~3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900000"/>
            <a:ext cx="5646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▶ BUILD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900000"/>
            <a:ext cx="5646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E884F"/>
                </a:solidFill>
                <a:latin typeface="Calibri"/>
              </a:rPr>
              <a:t>▶ DEPLOY PHASE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000" y="1320000"/>
            <a:ext cx="5446000" cy="4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0" y="1320000"/>
            <a:ext cx="5446000" cy="40000"/>
          </a:xfrm>
          <a:prstGeom prst="rect">
            <a:avLst/>
          </a:prstGeom>
          <a:solidFill>
            <a:srgbClr val="1E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-344000" y="2150000"/>
            <a:ext cx="1400000" cy="1500000"/>
          </a:xfrm>
          <a:prstGeom prst="roundRect">
            <a:avLst>
              <a:gd name="adj" fmla="val 10000"/>
            </a:avLst>
          </a:prstGeom>
          <a:solidFill>
            <a:srgbClr val="E3EAF6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00" y="2330000"/>
            <a:ext cx="520000" cy="52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64000" y="2930000"/>
            <a:ext cx="124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onsolas"/>
              </a:rPr>
              <a:t>git push</a:t>
            </a:r>
          </a:p>
        </p:txBody>
      </p:sp>
      <p:sp>
        <p:nvSpPr>
          <p:cNvPr id="18" name="Pentagon 17"/>
          <p:cNvSpPr/>
          <p:nvPr/>
        </p:nvSpPr>
        <p:spPr>
          <a:xfrm>
            <a:off x="1136000" y="2710000"/>
            <a:ext cx="280000" cy="380000"/>
          </a:xfrm>
          <a:prstGeom prst="homePlat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496000" y="2150000"/>
            <a:ext cx="1400000" cy="1500000"/>
          </a:xfrm>
          <a:prstGeom prst="roundRect">
            <a:avLst>
              <a:gd name="adj" fmla="val 10000"/>
            </a:avLst>
          </a:prstGeom>
          <a:solidFill>
            <a:srgbClr val="E3EAF6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36000" y="2330000"/>
            <a:ext cx="520000" cy="52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6000" y="2930000"/>
            <a:ext cx="124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onsolas"/>
              </a:rPr>
              <a:t>GH Actions</a:t>
            </a:r>
          </a:p>
        </p:txBody>
      </p:sp>
      <p:sp>
        <p:nvSpPr>
          <p:cNvPr id="22" name="Pentagon 21"/>
          <p:cNvSpPr/>
          <p:nvPr/>
        </p:nvSpPr>
        <p:spPr>
          <a:xfrm>
            <a:off x="2976000" y="2710000"/>
            <a:ext cx="280000" cy="380000"/>
          </a:xfrm>
          <a:prstGeom prst="homePlat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336000" y="2150000"/>
            <a:ext cx="1400000" cy="1500000"/>
          </a:xfrm>
          <a:prstGeom prst="roundRect">
            <a:avLst>
              <a:gd name="adj" fmla="val 10000"/>
            </a:avLst>
          </a:prstGeom>
          <a:solidFill>
            <a:srgbClr val="E3EAF6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776000" y="2330000"/>
            <a:ext cx="520000" cy="52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6000" y="2930000"/>
            <a:ext cx="124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onsolas"/>
              </a:rPr>
              <a:t>Docker build</a:t>
            </a:r>
          </a:p>
        </p:txBody>
      </p:sp>
      <p:sp>
        <p:nvSpPr>
          <p:cNvPr id="26" name="Pentagon 25"/>
          <p:cNvSpPr/>
          <p:nvPr/>
        </p:nvSpPr>
        <p:spPr>
          <a:xfrm>
            <a:off x="4816000" y="2710000"/>
            <a:ext cx="280000" cy="380000"/>
          </a:xfrm>
          <a:prstGeom prst="homePlate">
            <a:avLst/>
          </a:prstGeom>
          <a:solidFill>
            <a:srgbClr val="B78A12"/>
          </a:solidFill>
          <a:ln w="3175">
            <a:solidFill>
              <a:srgbClr val="B78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iamond 26"/>
          <p:cNvSpPr/>
          <p:nvPr/>
        </p:nvSpPr>
        <p:spPr>
          <a:xfrm>
            <a:off x="5176000" y="2200000"/>
            <a:ext cx="1400000" cy="1400000"/>
          </a:xfrm>
          <a:prstGeom prst="diamond">
            <a:avLst/>
          </a:prstGeom>
          <a:solidFill>
            <a:srgbClr val="FFF8E1"/>
          </a:solidFill>
          <a:ln w="19050">
            <a:solidFill>
              <a:srgbClr val="B7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100" b="1" i="0">
                <a:solidFill>
                  <a:srgbClr val="B78A12"/>
                </a:solidFill>
                <a:latin typeface="Calibri"/>
              </a:rPr>
              <a:t>Build OK?</a:t>
            </a:r>
          </a:p>
        </p:txBody>
      </p:sp>
      <p:sp>
        <p:nvSpPr>
          <p:cNvPr id="28" name="Pentagon 27"/>
          <p:cNvSpPr/>
          <p:nvPr/>
        </p:nvSpPr>
        <p:spPr>
          <a:xfrm>
            <a:off x="6656000" y="2710000"/>
            <a:ext cx="280000" cy="380000"/>
          </a:xfrm>
          <a:prstGeom prst="homePlat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016000" y="2150000"/>
            <a:ext cx="1400000" cy="150000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56000" y="2330000"/>
            <a:ext cx="520000" cy="52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6000" y="2930000"/>
            <a:ext cx="124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884F"/>
                </a:solidFill>
                <a:latin typeface="Consolas"/>
              </a:rPr>
              <a:t>ECR push</a:t>
            </a:r>
          </a:p>
        </p:txBody>
      </p:sp>
      <p:sp>
        <p:nvSpPr>
          <p:cNvPr id="32" name="Pentagon 31"/>
          <p:cNvSpPr/>
          <p:nvPr/>
        </p:nvSpPr>
        <p:spPr>
          <a:xfrm>
            <a:off x="8496000" y="2710000"/>
            <a:ext cx="280000" cy="380000"/>
          </a:xfrm>
          <a:prstGeom prst="homePlat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856000" y="2150000"/>
            <a:ext cx="1400000" cy="150000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296000" y="2330000"/>
            <a:ext cx="520000" cy="52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6000" y="2930000"/>
            <a:ext cx="124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884F"/>
                </a:solidFill>
                <a:latin typeface="Consolas"/>
              </a:rPr>
              <a:t>SSH to EC2</a:t>
            </a:r>
          </a:p>
        </p:txBody>
      </p:sp>
      <p:sp>
        <p:nvSpPr>
          <p:cNvPr id="36" name="Pentagon 35"/>
          <p:cNvSpPr/>
          <p:nvPr/>
        </p:nvSpPr>
        <p:spPr>
          <a:xfrm>
            <a:off x="10336000" y="2710000"/>
            <a:ext cx="280000" cy="380000"/>
          </a:xfrm>
          <a:prstGeom prst="homePlat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696000" y="2150000"/>
            <a:ext cx="1400000" cy="150000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136000" y="2330000"/>
            <a:ext cx="520000" cy="52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76000" y="2930000"/>
            <a:ext cx="124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884F"/>
                </a:solidFill>
                <a:latin typeface="Consolas"/>
              </a:rPr>
              <a:t>docker 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6000" y="356000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1">
                <a:solidFill>
                  <a:srgbClr val="1E884F"/>
                </a:solidFill>
                <a:latin typeface="Calibri"/>
              </a:rPr>
              <a:t>Тийм →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76000" y="3600000"/>
            <a:ext cx="0" cy="510000"/>
          </a:xfrm>
          <a:prstGeom prst="line">
            <a:avLst/>
          </a:prstGeom>
          <a:ln w="19050">
            <a:solidFill>
              <a:srgbClr val="C0392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36000" y="3680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1">
                <a:solidFill>
                  <a:srgbClr val="C0392B"/>
                </a:solidFill>
                <a:latin typeface="Calibri"/>
              </a:rPr>
              <a:t>Үгүй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76000" y="4110000"/>
            <a:ext cx="2400000" cy="58000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16000" y="4110000"/>
            <a:ext cx="420000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Calibri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6000" y="4110000"/>
            <a:ext cx="1760000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Workflow fail — лог GitHub UI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0000" y="5500000"/>
            <a:ext cx="11292000" cy="11000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611500" y="5650000"/>
            <a:ext cx="80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3A68"/>
                </a:solidFill>
                <a:latin typeface="Calibri"/>
              </a:rPr>
              <a:t>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1500" y="6060000"/>
            <a:ext cx="18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F3A68"/>
                </a:solidFill>
                <a:latin typeface="Calibri"/>
              </a:rPr>
              <a:t>ХУГАЦАА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1500" y="6300000"/>
            <a:ext cx="1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3–4 минут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73000" y="5780000"/>
            <a:ext cx="15000" cy="540000"/>
          </a:xfrm>
          <a:prstGeom prst="rect">
            <a:avLst/>
          </a:prstGeom>
          <a:solidFill>
            <a:srgbClr val="C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34500" y="5650000"/>
            <a:ext cx="80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3A68"/>
                </a:solidFill>
                <a:latin typeface="Calibri"/>
              </a:rPr>
              <a:t>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34500" y="6060000"/>
            <a:ext cx="18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F3A68"/>
                </a:solidFill>
                <a:latin typeface="Calibri"/>
              </a:rPr>
              <a:t>ҮЕ ШАТ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4500" y="6300000"/>
            <a:ext cx="1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6 алхамтай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0" y="5780000"/>
            <a:ext cx="15000" cy="540000"/>
          </a:xfrm>
          <a:prstGeom prst="rect">
            <a:avLst/>
          </a:prstGeom>
          <a:solidFill>
            <a:srgbClr val="C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57500" y="5650000"/>
            <a:ext cx="80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26A12"/>
                </a:solidFill>
                <a:latin typeface="Calibri"/>
              </a:rPr>
              <a:t>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7500" y="6060000"/>
            <a:ext cx="18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26A12"/>
                </a:solidFill>
                <a:latin typeface="Calibri"/>
              </a:rPr>
              <a:t>ЗЭРЭГЦЭХ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57500" y="6300000"/>
            <a:ext cx="1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бүтэн автомат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19000" y="5780000"/>
            <a:ext cx="15000" cy="540000"/>
          </a:xfrm>
          <a:prstGeom prst="rect">
            <a:avLst/>
          </a:prstGeom>
          <a:solidFill>
            <a:srgbClr val="C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0500" y="5650000"/>
            <a:ext cx="80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E884F"/>
                </a:solidFill>
                <a:latin typeface="Calibri"/>
              </a:rPr>
              <a:t>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0500" y="6060000"/>
            <a:ext cx="18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E884F"/>
                </a:solidFill>
                <a:latin typeface="Calibri"/>
              </a:rPr>
              <a:t>ХЯНАЛТ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0500" y="6300000"/>
            <a:ext cx="1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F3A"/>
                </a:solidFill>
                <a:latin typeface="Calibri"/>
              </a:rPr>
              <a:t>GitHub UI · log</a:t>
            </a:r>
          </a:p>
        </p:txBody>
      </p:sp>
    </p:spTree>
    <p:extLst>
      <p:ext uri="{BB962C8B-B14F-4D97-AF65-F5344CB8AC3E}">
        <p14:creationId xmlns:p14="http://schemas.microsoft.com/office/powerpoint/2010/main" val="4252181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56F0-CA28-1C24-AEF1-8B244C1C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0000" y="120000"/>
            <a:ext cx="11292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F3A68"/>
                </a:solidFill>
                <a:latin typeface="Calibri"/>
              </a:rPr>
              <a:t>Дүгнэлт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0000" y="700000"/>
            <a:ext cx="11292000" cy="9500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0000" y="780000"/>
            <a:ext cx="120000" cy="79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0000" y="820000"/>
            <a:ext cx="1400000" cy="280000"/>
          </a:xfrm>
          <a:prstGeom prst="roundRect">
            <a:avLst>
              <a:gd name="adj" fmla="val 45000"/>
            </a:avLst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ҮР ДҮН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000" y="1150000"/>
            <a:ext cx="10932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1F3A"/>
                </a:solidFill>
                <a:latin typeface="Calibri"/>
              </a:rPr>
              <a:t>Flutter, Node.js, Firebase давхаргуудыг AWS EC2 үүлэн дэд бүтэцэд суурилуулан нэгтгэсэн 3 давхаргат ухаалаг захиалгын систем production орчинд амжилттай хэрэгжлээ.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1930000"/>
            <a:ext cx="3577333" cy="44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0000" y="1970000"/>
            <a:ext cx="3497333" cy="750000"/>
          </a:xfrm>
          <a:prstGeom prst="rect">
            <a:avLst/>
          </a:prstGeom>
          <a:solidFill>
            <a:srgbClr val="1E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0000" y="1970000"/>
            <a:ext cx="70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000" y="1970000"/>
            <a:ext cx="2737333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Шинэлэг тал</a:t>
            </a:r>
          </a:p>
        </p:txBody>
      </p:sp>
      <p:sp>
        <p:nvSpPr>
          <p:cNvPr id="11" name="Oval 10"/>
          <p:cNvSpPr/>
          <p:nvPr/>
        </p:nvSpPr>
        <p:spPr>
          <a:xfrm>
            <a:off x="670000" y="3060000"/>
            <a:ext cx="180000" cy="18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000" y="294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3 давхаргат үүлэн архитектур</a:t>
            </a:r>
          </a:p>
        </p:txBody>
      </p:sp>
      <p:sp>
        <p:nvSpPr>
          <p:cNvPr id="13" name="Oval 12"/>
          <p:cNvSpPr/>
          <p:nvPr/>
        </p:nvSpPr>
        <p:spPr>
          <a:xfrm>
            <a:off x="670000" y="3640000"/>
            <a:ext cx="180000" cy="18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0000" y="352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Давхар горимын AI чатбот</a:t>
            </a:r>
          </a:p>
        </p:txBody>
      </p:sp>
      <p:sp>
        <p:nvSpPr>
          <p:cNvPr id="15" name="Oval 14"/>
          <p:cNvSpPr/>
          <p:nvPr/>
        </p:nvSpPr>
        <p:spPr>
          <a:xfrm>
            <a:off x="670000" y="4220000"/>
            <a:ext cx="180000" cy="18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0000" y="410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fixed_bookings функц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7333" y="1930000"/>
            <a:ext cx="3577333" cy="44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2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7333" y="1970000"/>
            <a:ext cx="3497333" cy="750000"/>
          </a:xfrm>
          <a:prstGeom prst="rect">
            <a:avLst/>
          </a:prstGeom>
          <a:solidFill>
            <a:srgbClr val="C26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7333" y="1970000"/>
            <a:ext cx="70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7333" y="1970000"/>
            <a:ext cx="2737333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Ач холбогдол</a:t>
            </a:r>
          </a:p>
        </p:txBody>
      </p:sp>
      <p:sp>
        <p:nvSpPr>
          <p:cNvPr id="21" name="Oval 20"/>
          <p:cNvSpPr/>
          <p:nvPr/>
        </p:nvSpPr>
        <p:spPr>
          <a:xfrm>
            <a:off x="4527333" y="3060000"/>
            <a:ext cx="180000" cy="180000"/>
          </a:xfrm>
          <a:prstGeom prst="ellipse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87333" y="294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Иргэдэд хялбар, ил тод</a:t>
            </a:r>
          </a:p>
        </p:txBody>
      </p:sp>
      <p:sp>
        <p:nvSpPr>
          <p:cNvPr id="23" name="Oval 22"/>
          <p:cNvSpPr/>
          <p:nvPr/>
        </p:nvSpPr>
        <p:spPr>
          <a:xfrm>
            <a:off x="4527333" y="3640000"/>
            <a:ext cx="180000" cy="180000"/>
          </a:xfrm>
          <a:prstGeom prst="ellipse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87333" y="352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Захиалгын ачаалал бууруулна</a:t>
            </a:r>
          </a:p>
        </p:txBody>
      </p:sp>
      <p:sp>
        <p:nvSpPr>
          <p:cNvPr id="25" name="Oval 24"/>
          <p:cNvSpPr/>
          <p:nvPr/>
        </p:nvSpPr>
        <p:spPr>
          <a:xfrm>
            <a:off x="4527333" y="4220000"/>
            <a:ext cx="180000" cy="180000"/>
          </a:xfrm>
          <a:prstGeom prst="ellipse">
            <a:avLst/>
          </a:prstGeom>
          <a:solidFill>
            <a:srgbClr val="C26A12"/>
          </a:solidFill>
          <a:ln w="3175">
            <a:solidFill>
              <a:srgbClr val="C26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7333" y="410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Орон нутгийн жишиг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4666" y="1930000"/>
            <a:ext cx="3577333" cy="44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04666" y="1970000"/>
            <a:ext cx="3497333" cy="75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4666" y="1970000"/>
            <a:ext cx="70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4666" y="1970000"/>
            <a:ext cx="2737333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Цаашдын хөгжил</a:t>
            </a:r>
          </a:p>
        </p:txBody>
      </p:sp>
      <p:sp>
        <p:nvSpPr>
          <p:cNvPr id="31" name="Oval 30"/>
          <p:cNvSpPr/>
          <p:nvPr/>
        </p:nvSpPr>
        <p:spPr>
          <a:xfrm>
            <a:off x="8384666" y="3060000"/>
            <a:ext cx="180000" cy="18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44666" y="294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QPay / SocialPay төлбөр</a:t>
            </a:r>
          </a:p>
        </p:txBody>
      </p:sp>
      <p:sp>
        <p:nvSpPr>
          <p:cNvPr id="33" name="Oval 32"/>
          <p:cNvSpPr/>
          <p:nvPr/>
        </p:nvSpPr>
        <p:spPr>
          <a:xfrm>
            <a:off x="8384666" y="3640000"/>
            <a:ext cx="180000" cy="18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44666" y="352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HTTPS / SSL аюулгүй холболт</a:t>
            </a:r>
          </a:p>
        </p:txBody>
      </p:sp>
      <p:sp>
        <p:nvSpPr>
          <p:cNvPr id="35" name="Oval 34"/>
          <p:cNvSpPr/>
          <p:nvPr/>
        </p:nvSpPr>
        <p:spPr>
          <a:xfrm>
            <a:off x="8384666" y="4220000"/>
            <a:ext cx="180000" cy="180000"/>
          </a:xfrm>
          <a:prstGeom prst="ellipse">
            <a:avLst/>
          </a:prstGeom>
          <a:solidFill>
            <a:srgbClr val="1F3A68"/>
          </a:solidFill>
          <a:ln w="31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44666" y="4100000"/>
            <a:ext cx="3017333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1F3A"/>
                </a:solidFill>
                <a:latin typeface="Calibri"/>
              </a:rPr>
              <a:t>Веб админ дэлгэц</a:t>
            </a:r>
          </a:p>
        </p:txBody>
      </p:sp>
    </p:spTree>
    <p:extLst>
      <p:ext uri="{BB962C8B-B14F-4D97-AF65-F5344CB8AC3E}">
        <p14:creationId xmlns:p14="http://schemas.microsoft.com/office/powerpoint/2010/main" val="1983563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" y="120000"/>
            <a:ext cx="9692000" cy="4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26A12"/>
                </a:solidFill>
                <a:latin typeface="Calibri"/>
              </a:rPr>
              <a:t>Бүлэг 3.2:  </a:t>
            </a:r>
            <a:r>
              <a:rPr sz="2000" b="1">
                <a:solidFill>
                  <a:srgbClr val="1F3A68"/>
                </a:solidFill>
                <a:latin typeface="Calibri"/>
              </a:rPr>
              <a:t>Хэрэгжилтийн үр дүн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2000" y="150000"/>
            <a:ext cx="1900000" cy="380000"/>
          </a:xfrm>
          <a:prstGeom prst="roundRect">
            <a:avLst>
              <a:gd name="adj" fmla="val 45000"/>
            </a:avLst>
          </a:prstGeom>
          <a:solidFill>
            <a:srgbClr val="1E884F"/>
          </a:solidFill>
          <a:ln w="63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● 100%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6000" y="800000"/>
            <a:ext cx="2680000" cy="950000"/>
          </a:xfrm>
          <a:prstGeom prst="roundRect">
            <a:avLst>
              <a:gd name="adj" fmla="val 10000"/>
            </a:avLst>
          </a:prstGeom>
          <a:solidFill>
            <a:srgbClr val="1E884F"/>
          </a:solidFill>
          <a:ln w="63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96000" y="880000"/>
            <a:ext cx="2680000" cy="475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6000" y="1315000"/>
            <a:ext cx="2680000" cy="39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Хэрэгжсэн зорилт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6000" y="800000"/>
            <a:ext cx="2680000" cy="950000"/>
          </a:xfrm>
          <a:prstGeom prst="roundRect">
            <a:avLst>
              <a:gd name="adj" fmla="val 10000"/>
            </a:avLst>
          </a:prstGeom>
          <a:solidFill>
            <a:srgbClr val="1E884F"/>
          </a:solidFill>
          <a:ln w="63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6000" y="880000"/>
            <a:ext cx="2680000" cy="475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4.3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6000" y="1315000"/>
            <a:ext cx="2680000" cy="39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Хэрэглэхэд хялбар (UX)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6000" y="800000"/>
            <a:ext cx="2680000" cy="950000"/>
          </a:xfrm>
          <a:prstGeom prst="roundRect">
            <a:avLst>
              <a:gd name="adj" fmla="val 10000"/>
            </a:avLst>
          </a:prstGeom>
          <a:solidFill>
            <a:srgbClr val="1E884F"/>
          </a:solidFill>
          <a:ln w="6350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000" y="880000"/>
            <a:ext cx="2680000" cy="475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 — 4 мин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000" y="1315000"/>
            <a:ext cx="2680000" cy="39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Автомат деплой хугацаа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000" y="195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6000" y="217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6000" y="227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6000" y="213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Flutter мобайл апп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253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8 дэлгэц · iOS / Android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6000" y="195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36000" y="217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36000" y="227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6000" y="213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Node.js REST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6000" y="253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8 endpoint · production EC2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6000" y="307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6000" y="329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6000" y="339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325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Firebase нэгтгэл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6000" y="365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Firestore · Auth OTP · локал мэдэгдэл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6000" y="307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36000" y="329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36000" y="339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6000" y="325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AI Chat туслах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6000" y="365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Claude Haiku + Groq Llama · &lt; 1 сек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6000" y="419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06000" y="441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06000" y="451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6000" y="437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Давхцал шалгалт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6000" y="477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Compound index · atomic transaction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6000" y="419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36000" y="441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36000" y="451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6000" y="437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CI/CD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6000" y="477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GitHub Actions · автомат деплой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6000" y="531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06000" y="553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06000" y="563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86000" y="549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Туршилт (нэгтгэсэн)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86000" y="589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9 функциональ + 5 гүйцэтгэлийн алхам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6000" y="5310000"/>
            <a:ext cx="5550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336000" y="5530000"/>
            <a:ext cx="560000" cy="560000"/>
          </a:xfrm>
          <a:prstGeom prst="ellipse">
            <a:avLst/>
          </a:prstGeom>
          <a:solidFill>
            <a:srgbClr val="1E884F"/>
          </a:solidFill>
          <a:ln w="3175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836000" y="5630000"/>
            <a:ext cx="750000" cy="360000"/>
          </a:xfrm>
          <a:prstGeom prst="roundRect">
            <a:avLst>
              <a:gd name="adj" fmla="val 45000"/>
            </a:avLst>
          </a:prstGeom>
          <a:solidFill>
            <a:srgbClr val="E7F5EC"/>
          </a:solidFill>
          <a:ln w="12700">
            <a:solidFill>
              <a:srgbClr val="1E8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 i="0">
                <a:solidFill>
                  <a:srgbClr val="1E884F"/>
                </a:solidFill>
                <a:latin typeface="Calibri"/>
              </a:rPr>
              <a:t>DONE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6000" y="549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Хэрэглэхэд хялбар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16000" y="5890000"/>
            <a:ext cx="357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26E"/>
                </a:solidFill>
                <a:latin typeface="Calibri"/>
              </a:rPr>
              <a:t>4.3 / 5.0 оноо (Usability scale)</a:t>
            </a:r>
          </a:p>
        </p:txBody>
      </p:sp>
    </p:spTree>
    <p:extLst>
      <p:ext uri="{BB962C8B-B14F-4D97-AF65-F5344CB8AC3E}">
        <p14:creationId xmlns:p14="http://schemas.microsoft.com/office/powerpoint/2010/main" val="1875798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6"/>
            <a:ext cx="161979" cy="6515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0" y="6515598"/>
            <a:ext cx="12191613" cy="3419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8952034" y="6533596"/>
            <a:ext cx="3059602" cy="211192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r"/>
            <a:r>
              <a:rPr sz="9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78" y="446"/>
            <a:ext cx="12029634" cy="6299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395948" y="72438"/>
            <a:ext cx="11651683" cy="35394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Calibri"/>
              </a:rPr>
              <a:t>Дүгнэлт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965" y="666360"/>
            <a:ext cx="11777666" cy="755902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9977" tIns="89988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Flutter (Presentation), Node.js (Application), Firebase (Data) давхаргуудыг AWS EC2 дэд бүтэцд суурилуулан нэгтгэсэн 3 давхаргат ухаалаг захиалгын систем амжилттай загварчлагдаж, production орчинд хэрэгжлээ.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964" y="1494251"/>
            <a:ext cx="5816843" cy="4679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5925" tIns="53993" rtlCol="0" anchor="ctr"/>
          <a:lstStyle/>
          <a:p>
            <a:pPr algn="ctr"/>
            <a:r>
              <a:rPr sz="1200" b="1">
                <a:solidFill>
                  <a:srgbClr val="2E75B6"/>
                </a:solidFill>
                <a:latin typeface="Calibri"/>
              </a:rPr>
              <a:t>Flutter мобайл апп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404040"/>
                </a:solidFill>
                <a:latin typeface="Calibri"/>
              </a:rPr>
              <a:t>8 дэлгэц, iOS/Android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957" y="1620234"/>
            <a:ext cx="431944" cy="197974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991" tIns="28796" rIns="53993" bIns="28796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0788" y="1494251"/>
            <a:ext cx="5816843" cy="4679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538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5925" tIns="53993" rtlCol="0" anchor="ctr"/>
          <a:lstStyle/>
          <a:p>
            <a:pPr algn="ctr"/>
            <a:r>
              <a:rPr sz="1200" b="1">
                <a:solidFill>
                  <a:srgbClr val="538135"/>
                </a:solidFill>
                <a:latin typeface="Calibri"/>
              </a:rPr>
              <a:t>Node.js REST API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404040"/>
                </a:solidFill>
                <a:latin typeface="Calibri"/>
              </a:rPr>
              <a:t>8 endpoint, production EC2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4781" y="1620234"/>
            <a:ext cx="431944" cy="197974"/>
          </a:xfrm>
          <a:prstGeom prst="roundRect">
            <a:avLst>
              <a:gd name="adj" fmla="val 5000"/>
            </a:avLst>
          </a:prstGeom>
          <a:solidFill>
            <a:srgbClr val="538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991" tIns="28796" rIns="53993" bIns="28796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964" y="2034181"/>
            <a:ext cx="5816843" cy="4679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5925" tIns="53993" rtlCol="0" anchor="ctr"/>
          <a:lstStyle/>
          <a:p>
            <a:pPr algn="ctr"/>
            <a:r>
              <a:rPr sz="1200" b="1">
                <a:solidFill>
                  <a:srgbClr val="C55A11"/>
                </a:solidFill>
                <a:latin typeface="Calibri"/>
              </a:rPr>
              <a:t>Firebase нэгтгэл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404040"/>
                </a:solidFill>
                <a:latin typeface="Calibri"/>
              </a:rPr>
              <a:t>Firestore + Auth OTP + локал мэдэгдэл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957" y="2160163"/>
            <a:ext cx="431944" cy="197974"/>
          </a:xfrm>
          <a:prstGeom prst="roundRect">
            <a:avLst>
              <a:gd name="adj" fmla="val 5000"/>
            </a:avLst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991" tIns="28796" rIns="53993" bIns="28796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0788" y="2034181"/>
            <a:ext cx="5816843" cy="4679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7B2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5925" tIns="53993" rtlCol="0" anchor="ctr"/>
          <a:lstStyle/>
          <a:p>
            <a:pPr algn="ctr"/>
            <a:r>
              <a:rPr sz="1200" b="1">
                <a:solidFill>
                  <a:srgbClr val="7B2C8E"/>
                </a:solidFill>
                <a:latin typeface="Calibri"/>
              </a:rPr>
              <a:t>AI Chat туслах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404040"/>
                </a:solidFill>
                <a:latin typeface="Calibri"/>
              </a:rPr>
              <a:t>Groq LLaMA 3.1 8B, &lt;1 сек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4781" y="2160163"/>
            <a:ext cx="431944" cy="197974"/>
          </a:xfrm>
          <a:prstGeom prst="roundRect">
            <a:avLst>
              <a:gd name="adj" fmla="val 5000"/>
            </a:avLst>
          </a:prstGeom>
          <a:solidFill>
            <a:srgbClr val="7B2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991" tIns="28796" rIns="53993" bIns="28796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964" y="2574110"/>
            <a:ext cx="5816843" cy="4679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5925" tIns="53993" rtlCol="0" anchor="ctr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Давхцал шалгалт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404040"/>
                </a:solidFill>
                <a:latin typeface="Calibri"/>
              </a:rPr>
              <a:t>Compound index, 409 логик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957" y="2700093"/>
            <a:ext cx="431944" cy="197974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991" tIns="28796" rIns="53993" bIns="28796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0788" y="2574110"/>
            <a:ext cx="5816843" cy="4679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5925" tIns="53993" rtlCol="0" anchor="ctr"/>
          <a:lstStyle/>
          <a:p>
            <a:pPr algn="ctr"/>
            <a:r>
              <a:rPr sz="1200" b="1">
                <a:solidFill>
                  <a:srgbClr val="375623"/>
                </a:solidFill>
                <a:latin typeface="Calibri"/>
              </a:rPr>
              <a:t>CI/CD Pipeline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404040"/>
                </a:solidFill>
                <a:latin typeface="Calibri"/>
              </a:rPr>
              <a:t>GitHub Actions автомат деплой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4781" y="2700093"/>
            <a:ext cx="431944" cy="197974"/>
          </a:xfrm>
          <a:prstGeom prst="roundRect">
            <a:avLst>
              <a:gd name="adj" fmla="val 5000"/>
            </a:avLst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991" tIns="28796" rIns="53993" bIns="28796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965" y="3141037"/>
            <a:ext cx="11777666" cy="3275574"/>
          </a:xfrm>
          <a:prstGeom prst="roundRect">
            <a:avLst>
              <a:gd name="adj" fmla="val 5000"/>
            </a:avLst>
          </a:prstGeom>
          <a:solidFill>
            <a:srgbClr val="BDD7E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9977" tIns="71991" rtlCol="0" anchor="ctr"/>
          <a:lstStyle/>
          <a:p>
            <a:pPr algn="ctr"/>
            <a:endParaRPr sz="110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1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3522098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7"/>
            <a:ext cx="12191613" cy="68571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ectangle 2"/>
          <p:cNvSpPr/>
          <p:nvPr/>
        </p:nvSpPr>
        <p:spPr>
          <a:xfrm>
            <a:off x="11957643" y="1800212"/>
            <a:ext cx="233970" cy="1439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6461605"/>
            <a:ext cx="12191613" cy="3959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215971" y="6479603"/>
            <a:ext cx="4319438" cy="288137"/>
          </a:xfrm>
          <a:prstGeom prst="rect">
            <a:avLst/>
          </a:prstGeom>
          <a:noFill/>
        </p:spPr>
        <p:txBody>
          <a:bodyPr wrap="square" lIns="71991" tIns="43194" rIns="53993" bIns="28796">
            <a:spAutoFit/>
          </a:bodyPr>
          <a:lstStyle/>
          <a:p>
            <a:pPr algn="l"/>
            <a:r>
              <a:rPr sz="1400" b="0" i="0">
                <a:solidFill>
                  <a:srgbClr val="FFC000"/>
                </a:solidFill>
                <a:latin typeface="Calibri"/>
              </a:rPr>
              <a:t>Улаанбаатар хот,  2026 он</a:t>
            </a:r>
          </a:p>
        </p:txBody>
      </p:sp>
      <p:pic>
        <p:nvPicPr>
          <p:cNvPr id="6" name="Picture 5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81" y="108432"/>
            <a:ext cx="1079859" cy="12598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59836" y="1620236"/>
            <a:ext cx="10618617" cy="359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1259836" y="4247894"/>
            <a:ext cx="10618617" cy="359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899883" y="1692226"/>
            <a:ext cx="10258664" cy="865515"/>
          </a:xfrm>
          <a:prstGeom prst="rect">
            <a:avLst/>
          </a:prstGeom>
          <a:noFill/>
        </p:spPr>
        <p:txBody>
          <a:bodyPr wrap="square" lIns="71991" tIns="35995" rIns="53993" bIns="28796" anchor="t">
            <a:spAutoFit/>
          </a:bodyPr>
          <a:lstStyle/>
          <a:p>
            <a:pPr algn="ctr"/>
            <a:r>
              <a:rPr lang="az-Cyrl-AZ" sz="5150" b="1">
                <a:solidFill>
                  <a:srgbClr val="002060"/>
                </a:solidFill>
                <a:latin typeface="Calibri"/>
              </a:rPr>
              <a:t>Анхаарал тавьсанд баярлалаа</a:t>
            </a:r>
            <a:endParaRPr sz="5199" b="1" i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9765" y="3060048"/>
            <a:ext cx="8638875" cy="311645"/>
          </a:xfrm>
          <a:prstGeom prst="rect">
            <a:avLst/>
          </a:prstGeom>
          <a:noFill/>
        </p:spPr>
        <p:txBody>
          <a:bodyPr wrap="square" lIns="71991" tIns="35995" rIns="53993" bIns="28796" anchor="t">
            <a:spAutoFit/>
          </a:bodyPr>
          <a:lstStyle/>
          <a:p>
            <a:pPr algn="ctr"/>
            <a:r>
              <a:rPr sz="1600" b="0" i="0" dirty="0" err="1">
                <a:solidFill>
                  <a:srgbClr val="002060"/>
                </a:solidFill>
                <a:latin typeface="Calibri"/>
              </a:rPr>
              <a:t>Асуулт</a:t>
            </a:r>
            <a:endParaRPr lang="en-US" sz="1600" b="0" i="0" dirty="0" err="1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lideNum"/>
          <p:cNvSpPr txBox="1"/>
          <p:nvPr/>
        </p:nvSpPr>
        <p:spPr>
          <a:xfrm>
            <a:off x="10485121" y="6446127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2060"/>
                </a:solidFill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38797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1291</Words>
  <Application>Microsoft Office PowerPoint</Application>
  <PresentationFormat>Widescreen</PresentationFormat>
  <Paragraphs>446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ҮҮЛЭН ОРЧИНД СУУРИЛСАН СПОРТ ЗААЛНЫ ЦАГ ЗАХИАЛГЫН 3 ДАВХАРАТ СИСТЕМИЙН ЗАГВАРЧЛАЛ БА ХЭРЭГЖИЛТ </vt:lpstr>
      <vt:lpstr>Агуулга</vt:lpstr>
      <vt:lpstr>Үндэслэл</vt:lpstr>
      <vt:lpstr>Судалгааны асуудал ба шийдэл</vt:lpstr>
      <vt:lpstr>PowerPoint Presentation</vt:lpstr>
      <vt:lpstr>3 давхаргат архитектурын онол</vt:lpstr>
      <vt:lpstr>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TUVSHINJARGAL MUNGUNKHUYAG</cp:lastModifiedBy>
  <cp:revision>158</cp:revision>
  <dcterms:created xsi:type="dcterms:W3CDTF">2013-07-15T20:26:40Z</dcterms:created>
  <dcterms:modified xsi:type="dcterms:W3CDTF">2026-05-05T03:07:52Z</dcterms:modified>
</cp:coreProperties>
</file>